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690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1BE0C4C-D757-4292-80FA-CFCC3AAAA7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8AEF47-EE90-47E1-9D35-1A141549D76E}"/>
              </a:ext>
            </a:extLst>
          </p:cNvPr>
          <p:cNvSpPr>
            <a:spLocks noGrp="1"/>
          </p:cNvSpPr>
          <p:nvPr/>
        </p:nvSpPr>
        <p:spPr>
          <a:xfrm>
            <a:off x="685800" y="533400"/>
            <a:ext cx="1981200" cy="9525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1823CE-7DF7-46BC-90F1-F4A1618C3932}"/>
              </a:ext>
            </a:extLst>
          </p:cNvPr>
          <p:cNvSpPr>
            <a:spLocks noGrp="1"/>
          </p:cNvSpPr>
          <p:nvPr/>
        </p:nvSpPr>
        <p:spPr>
          <a:xfrm>
            <a:off x="2819400" y="533400"/>
            <a:ext cx="990600" cy="952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82A63BC-7E3A-4F00-AD29-7F6EBBA199FD}"/>
              </a:ext>
            </a:extLst>
          </p:cNvPr>
          <p:cNvSpPr>
            <a:spLocks noGrp="1"/>
          </p:cNvSpPr>
          <p:nvPr/>
        </p:nvSpPr>
        <p:spPr>
          <a:xfrm>
            <a:off x="685800" y="952500"/>
            <a:ext cx="7239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BLFormer improves</a:t>
            </a:r>
          </a:p>
          <a:p>
            <a:pPr algn="l"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billiards break prediction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5126D3-D9BC-4A15-8888-11D44565BF14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628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5B7083"/>
                </a:solidFill>
              </a:defRPr>
            </a:pPr>
            <a:r>
              <a:rPr sz="1800" b="0">
                <a:solidFill>
                  <a:srgbClr val="5B7083"/>
                </a:solidFill>
              </a:rPr>
              <a:t>A geometry-aware joint set transformer for clear, win, and potted-count prediction from table layouts.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748DC44-3646-4E18-B0C0-7992DBEF2676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2160000" cy="6480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D72F930-317E-4948-AB15-0BCE92A4A6FB}"/>
              </a:ext>
            </a:extLst>
          </p:cNvPr>
          <p:cNvSpPr>
            <a:spLocks noGrp="1"/>
          </p:cNvSpPr>
          <p:nvPr/>
        </p:nvSpPr>
        <p:spPr>
          <a:xfrm>
            <a:off x="709613" y="3438525"/>
            <a:ext cx="2160000" cy="6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lang="en-US" sz="2000" b="1" dirty="0">
                <a:solidFill>
                  <a:srgbClr val="007FC4"/>
                </a:solidFill>
              </a:rPr>
              <a:t>B</a:t>
            </a:r>
            <a:r>
              <a:rPr lang="en-US" altLang="zh-CN" sz="2000" b="1" dirty="0">
                <a:solidFill>
                  <a:srgbClr val="007FC4"/>
                </a:solidFill>
              </a:rPr>
              <a:t>u </a:t>
            </a:r>
            <a:r>
              <a:rPr lang="en-US" altLang="zh-CN" sz="2000" b="1" dirty="0" err="1">
                <a:solidFill>
                  <a:srgbClr val="007FC4"/>
                </a:solidFill>
              </a:rPr>
              <a:t>Yizhe</a:t>
            </a:r>
            <a:endParaRPr sz="2000" b="1" dirty="0">
              <a:solidFill>
                <a:srgbClr val="007FC4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27FE85-F82A-44F0-8AC1-F81152D76483}"/>
              </a:ext>
            </a:extLst>
          </p:cNvPr>
          <p:cNvSpPr>
            <a:spLocks noGrp="1"/>
          </p:cNvSpPr>
          <p:nvPr/>
        </p:nvSpPr>
        <p:spPr>
          <a:xfrm>
            <a:off x="685800" y="4166619"/>
            <a:ext cx="2160000" cy="648000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 w="9525">
            <a:solidFill>
              <a:srgbClr val="EAFB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A0B160-9F90-409A-8D30-EF5A6951C63F}"/>
              </a:ext>
            </a:extLst>
          </p:cNvPr>
          <p:cNvSpPr>
            <a:spLocks noGrp="1"/>
          </p:cNvSpPr>
          <p:nvPr/>
        </p:nvSpPr>
        <p:spPr>
          <a:xfrm>
            <a:off x="687238" y="4291581"/>
            <a:ext cx="2160000" cy="6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0C29F"/>
                </a:solidFill>
              </a:defRPr>
            </a:pPr>
            <a:r>
              <a:rPr lang="en-US" sz="2000" b="1" dirty="0">
                <a:solidFill>
                  <a:srgbClr val="20C29F"/>
                </a:solidFill>
              </a:rPr>
              <a:t>Tang Wentao</a:t>
            </a:r>
            <a:endParaRPr sz="2000" b="1" dirty="0">
              <a:solidFill>
                <a:srgbClr val="20C29F"/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BA1E164-AF26-4115-98A9-4E191A991D25}"/>
              </a:ext>
            </a:extLst>
          </p:cNvPr>
          <p:cNvSpPr>
            <a:spLocks noGrp="1"/>
          </p:cNvSpPr>
          <p:nvPr/>
        </p:nvSpPr>
        <p:spPr>
          <a:xfrm>
            <a:off x="709613" y="5053581"/>
            <a:ext cx="2160000" cy="648000"/>
          </a:xfrm>
          <a:prstGeom prst="roundRect">
            <a:avLst>
              <a:gd name="adj" fmla="val 50000"/>
            </a:avLst>
          </a:prstGeom>
          <a:solidFill>
            <a:srgbClr val="FFF7DB"/>
          </a:solidFill>
          <a:ln w="9525">
            <a:solidFill>
              <a:srgbClr val="FFF7D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C87A70-DB28-4B9F-AD91-B4E73E55EE9E}"/>
              </a:ext>
            </a:extLst>
          </p:cNvPr>
          <p:cNvSpPr>
            <a:spLocks noGrp="1"/>
          </p:cNvSpPr>
          <p:nvPr/>
        </p:nvSpPr>
        <p:spPr>
          <a:xfrm>
            <a:off x="709613" y="5190825"/>
            <a:ext cx="2160000" cy="6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8A6500"/>
                </a:solidFill>
              </a:defRPr>
            </a:pPr>
            <a:r>
              <a:rPr lang="en-US" sz="2000" b="1" dirty="0">
                <a:solidFill>
                  <a:srgbClr val="8A6500"/>
                </a:solidFill>
              </a:rPr>
              <a:t>Wang </a:t>
            </a:r>
            <a:r>
              <a:rPr lang="en-US" sz="2000" b="1" dirty="0" err="1">
                <a:solidFill>
                  <a:srgbClr val="8A6500"/>
                </a:solidFill>
              </a:rPr>
              <a:t>Mingyang</a:t>
            </a:r>
            <a:endParaRPr sz="2000" b="1" dirty="0">
              <a:solidFill>
                <a:srgbClr val="8A6500"/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9184E6-E801-4E2E-BC58-0ABC7D31E538}"/>
              </a:ext>
            </a:extLst>
          </p:cNvPr>
          <p:cNvSpPr>
            <a:spLocks noGrp="1"/>
          </p:cNvSpPr>
          <p:nvPr/>
        </p:nvSpPr>
        <p:spPr>
          <a:xfrm>
            <a:off x="7948613" y="1570905"/>
            <a:ext cx="3352800" cy="4114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67EF08-BA42-4601-BC31-6F742BAB953D}"/>
              </a:ext>
            </a:extLst>
          </p:cNvPr>
          <p:cNvSpPr>
            <a:spLocks noGrp="1"/>
          </p:cNvSpPr>
          <p:nvPr/>
        </p:nvSpPr>
        <p:spPr>
          <a:xfrm>
            <a:off x="8272463" y="1837605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Why this model family fits the task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936487D-6073-4D14-8E75-E83C994CDA65}"/>
              </a:ext>
            </a:extLst>
          </p:cNvPr>
          <p:cNvSpPr>
            <a:spLocks noGrp="1"/>
          </p:cNvSpPr>
          <p:nvPr/>
        </p:nvSpPr>
        <p:spPr>
          <a:xfrm>
            <a:off x="8272463" y="2409105"/>
            <a:ext cx="2686050" cy="4191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4D3030-A36F-45D7-B2AF-DF99545CDB3E}"/>
              </a:ext>
            </a:extLst>
          </p:cNvPr>
          <p:cNvSpPr>
            <a:spLocks noGrp="1"/>
          </p:cNvSpPr>
          <p:nvPr/>
        </p:nvSpPr>
        <p:spPr>
          <a:xfrm>
            <a:off x="8462963" y="2513880"/>
            <a:ext cx="2305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007FC4"/>
                </a:solidFill>
              </a:defRPr>
            </a:pPr>
            <a:r>
              <a:rPr sz="1425" b="1">
                <a:solidFill>
                  <a:srgbClr val="007FC4"/>
                </a:solidFill>
              </a:rPr>
              <a:t>Object-set tokens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3B91DF5-64E8-44AD-A729-DF641D2A98DA}"/>
              </a:ext>
            </a:extLst>
          </p:cNvPr>
          <p:cNvSpPr>
            <a:spLocks noGrp="1"/>
          </p:cNvSpPr>
          <p:nvPr/>
        </p:nvSpPr>
        <p:spPr>
          <a:xfrm>
            <a:off x="8272463" y="3037755"/>
            <a:ext cx="2686050" cy="419100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 w="9525">
            <a:solidFill>
              <a:srgbClr val="EAFB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66A3E5-1699-4306-86CD-6948583CCF81}"/>
              </a:ext>
            </a:extLst>
          </p:cNvPr>
          <p:cNvSpPr>
            <a:spLocks noGrp="1"/>
          </p:cNvSpPr>
          <p:nvPr/>
        </p:nvSpPr>
        <p:spPr>
          <a:xfrm>
            <a:off x="8462963" y="3142530"/>
            <a:ext cx="2305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20C29F"/>
                </a:solidFill>
              </a:defRPr>
            </a:pPr>
            <a:r>
              <a:rPr sz="1425" b="1">
                <a:solidFill>
                  <a:srgbClr val="20C29F"/>
                </a:solidFill>
              </a:rPr>
              <a:t>Geometry-biased attention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CFF53B3-883F-4660-8D69-378F3D4A656C}"/>
              </a:ext>
            </a:extLst>
          </p:cNvPr>
          <p:cNvSpPr>
            <a:spLocks noGrp="1"/>
          </p:cNvSpPr>
          <p:nvPr/>
        </p:nvSpPr>
        <p:spPr>
          <a:xfrm>
            <a:off x="8272463" y="3666405"/>
            <a:ext cx="2686050" cy="419100"/>
          </a:xfrm>
          <a:prstGeom prst="roundRect">
            <a:avLst>
              <a:gd name="adj" fmla="val 50000"/>
            </a:avLst>
          </a:prstGeom>
          <a:solidFill>
            <a:srgbClr val="FDF0EA"/>
          </a:solidFill>
          <a:ln w="9525">
            <a:solidFill>
              <a:srgbClr val="FDF0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B969FA-5F0A-4370-A52D-939725936363}"/>
              </a:ext>
            </a:extLst>
          </p:cNvPr>
          <p:cNvSpPr>
            <a:spLocks noGrp="1"/>
          </p:cNvSpPr>
          <p:nvPr/>
        </p:nvSpPr>
        <p:spPr>
          <a:xfrm>
            <a:off x="8462963" y="3771180"/>
            <a:ext cx="2305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EC6F45"/>
                </a:solidFill>
              </a:defRPr>
            </a:pPr>
            <a:r>
              <a:rPr sz="1425" b="1">
                <a:solidFill>
                  <a:srgbClr val="EC6F45"/>
                </a:solidFill>
              </a:rPr>
              <a:t>Joint 40-state head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94E11304-AA37-4CC5-8820-A1A9CD5C8498}"/>
              </a:ext>
            </a:extLst>
          </p:cNvPr>
          <p:cNvSpPr>
            <a:spLocks noGrp="1"/>
          </p:cNvSpPr>
          <p:nvPr/>
        </p:nvSpPr>
        <p:spPr>
          <a:xfrm>
            <a:off x="8843963" y="4428405"/>
            <a:ext cx="742950" cy="742950"/>
          </a:xfrm>
          <a:prstGeom prst="ellipse">
            <a:avLst/>
          </a:prstGeom>
          <a:solidFill>
            <a:srgbClr val="F8BD0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F616C99A-14CB-4D83-9684-60DB77D6F8C4}"/>
              </a:ext>
            </a:extLst>
          </p:cNvPr>
          <p:cNvSpPr>
            <a:spLocks noGrp="1"/>
          </p:cNvSpPr>
          <p:nvPr/>
        </p:nvSpPr>
        <p:spPr>
          <a:xfrm>
            <a:off x="9634538" y="4333155"/>
            <a:ext cx="361950" cy="361950"/>
          </a:xfrm>
          <a:prstGeom prst="ellipse">
            <a:avLst/>
          </a:prstGeom>
          <a:solidFill>
            <a:srgbClr val="EC6F4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097E52-746C-4A77-9D37-0C289211BB5E}"/>
              </a:ext>
            </a:extLst>
          </p:cNvPr>
          <p:cNvSpPr>
            <a:spLocks noGrp="1"/>
          </p:cNvSpPr>
          <p:nvPr/>
        </p:nvSpPr>
        <p:spPr>
          <a:xfrm>
            <a:off x="10158413" y="4657005"/>
            <a:ext cx="495300" cy="495300"/>
          </a:xfrm>
          <a:prstGeom prst="ellipse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6D1BA774-4149-A3E3-4407-82F86648E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7256" y="3257550"/>
            <a:ext cx="3663714" cy="274778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24930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B5C6AEFC-E682-4FA0-87D4-358C3A9843D5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0E7EDE0-0A8E-4F5F-8AF3-5792F539FB4A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E57A9DB-3972-44BB-9BE8-347B1B7A57CB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4F7DA2-26D2-4EB7-9C57-2C7F01838E75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6D8AC1-3870-41AB-9FE9-014DC4D71651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9800558-87E4-41A8-A881-6F73F1EBD94A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task is to read a post-break layout, not an image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A67D12-E5A3-47F2-B2FD-2CBEBFF219BF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81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>
                <a:solidFill>
                  <a:srgbClr val="5B7083"/>
                </a:solidFill>
              </a:rPr>
              <a:t>Break-shot prediction is a small-data physical reasoning problem with three coupled outputs.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0EFEB95-A722-4FC0-BB2C-74C4A8E06EC8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4495800" cy="2571750"/>
          </a:xfrm>
          <a:prstGeom prst="roundRect">
            <a:avLst>
              <a:gd name="adj" fmla="val 8889"/>
            </a:avLst>
          </a:prstGeom>
          <a:solidFill>
            <a:srgbClr val="1D8F78"/>
          </a:solidFill>
          <a:ln w="19050">
            <a:solidFill>
              <a:srgbClr val="17695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0E2907A-B803-4CCD-8680-8EB354A68CDB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4152900" cy="2228850"/>
          </a:xfrm>
          <a:prstGeom prst="roundRect">
            <a:avLst>
              <a:gd name="adj" fmla="val 8547"/>
            </a:avLst>
          </a:prstGeom>
          <a:solidFill>
            <a:srgbClr val="2CB698"/>
          </a:solidFill>
          <a:ln w="14288">
            <a:solidFill>
              <a:srgbClr val="C8FF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6D94F08-76A3-4008-8251-38DD0CF68D4D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1134DC0-2E86-4036-88E4-4326410081F7}"/>
              </a:ext>
            </a:extLst>
          </p:cNvPr>
          <p:cNvSpPr>
            <a:spLocks noGrp="1"/>
          </p:cNvSpPr>
          <p:nvPr/>
        </p:nvSpPr>
        <p:spPr>
          <a:xfrm>
            <a:off x="2647950" y="247650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F9B6B3F5-DA7C-458B-9B08-10437C16505C}"/>
              </a:ext>
            </a:extLst>
          </p:cNvPr>
          <p:cNvSpPr>
            <a:spLocks noGrp="1"/>
          </p:cNvSpPr>
          <p:nvPr/>
        </p:nvSpPr>
        <p:spPr>
          <a:xfrm>
            <a:off x="4686300" y="247650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EEDD85CB-4DED-427A-9D44-19F7315B32C7}"/>
              </a:ext>
            </a:extLst>
          </p:cNvPr>
          <p:cNvSpPr>
            <a:spLocks noGrp="1"/>
          </p:cNvSpPr>
          <p:nvPr/>
        </p:nvSpPr>
        <p:spPr>
          <a:xfrm>
            <a:off x="609600" y="462915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9B838861-6DC4-488B-801A-5F2141BB1BAF}"/>
              </a:ext>
            </a:extLst>
          </p:cNvPr>
          <p:cNvSpPr>
            <a:spLocks noGrp="1"/>
          </p:cNvSpPr>
          <p:nvPr/>
        </p:nvSpPr>
        <p:spPr>
          <a:xfrm>
            <a:off x="2647950" y="462915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255445-D6AF-4BAC-809E-8937B524AD54}"/>
              </a:ext>
            </a:extLst>
          </p:cNvPr>
          <p:cNvSpPr>
            <a:spLocks noGrp="1"/>
          </p:cNvSpPr>
          <p:nvPr/>
        </p:nvSpPr>
        <p:spPr>
          <a:xfrm>
            <a:off x="4686300" y="4629150"/>
            <a:ext cx="228600" cy="22860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336FBD4-9472-4C0E-B193-0BCD5F9A2391}"/>
              </a:ext>
            </a:extLst>
          </p:cNvPr>
          <p:cNvSpPr>
            <a:spLocks noGrp="1"/>
          </p:cNvSpPr>
          <p:nvPr/>
        </p:nvSpPr>
        <p:spPr>
          <a:xfrm>
            <a:off x="1847850" y="3181350"/>
            <a:ext cx="209550" cy="209550"/>
          </a:xfrm>
          <a:prstGeom prst="ellipse">
            <a:avLst/>
          </a:prstGeom>
          <a:solidFill>
            <a:srgbClr val="F8BD0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1816714-BE13-4BC4-8A2C-0851891AB76E}"/>
              </a:ext>
            </a:extLst>
          </p:cNvPr>
          <p:cNvSpPr>
            <a:spLocks noGrp="1"/>
          </p:cNvSpPr>
          <p:nvPr/>
        </p:nvSpPr>
        <p:spPr>
          <a:xfrm>
            <a:off x="2381250" y="3638550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5831965-9D3E-43F7-AEAB-8E534A45FE56}"/>
              </a:ext>
            </a:extLst>
          </p:cNvPr>
          <p:cNvSpPr>
            <a:spLocks noGrp="1"/>
          </p:cNvSpPr>
          <p:nvPr/>
        </p:nvSpPr>
        <p:spPr>
          <a:xfrm>
            <a:off x="3238500" y="3371850"/>
            <a:ext cx="209550" cy="209550"/>
          </a:xfrm>
          <a:prstGeom prst="ellipse">
            <a:avLst/>
          </a:prstGeom>
          <a:solidFill>
            <a:srgbClr val="EC6F45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0D04A29-EE33-4283-977E-724C05198C23}"/>
              </a:ext>
            </a:extLst>
          </p:cNvPr>
          <p:cNvSpPr>
            <a:spLocks noGrp="1"/>
          </p:cNvSpPr>
          <p:nvPr/>
        </p:nvSpPr>
        <p:spPr>
          <a:xfrm>
            <a:off x="3676650" y="4038600"/>
            <a:ext cx="209550" cy="209550"/>
          </a:xfrm>
          <a:prstGeom prst="ellipse">
            <a:avLst/>
          </a:prstGeom>
          <a:solidFill>
            <a:srgbClr val="007F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5565E97-5132-4D20-824B-6807C4009FCC}"/>
              </a:ext>
            </a:extLst>
          </p:cNvPr>
          <p:cNvSpPr>
            <a:spLocks noGrp="1"/>
          </p:cNvSpPr>
          <p:nvPr/>
        </p:nvSpPr>
        <p:spPr>
          <a:xfrm>
            <a:off x="1524000" y="4133850"/>
            <a:ext cx="209550" cy="209550"/>
          </a:xfrm>
          <a:prstGeom prst="ellipse">
            <a:avLst/>
          </a:prstGeom>
          <a:solidFill>
            <a:srgbClr val="F3F6F8"/>
          </a:solidFill>
          <a:ln w="9525">
            <a:solidFill>
              <a:srgbClr val="AAB8B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58EE833-94E7-4F7B-8E19-CEFB5B7BB9A7}"/>
              </a:ext>
            </a:extLst>
          </p:cNvPr>
          <p:cNvSpPr>
            <a:spLocks noGrp="1"/>
          </p:cNvSpPr>
          <p:nvPr/>
        </p:nvSpPr>
        <p:spPr>
          <a:xfrm>
            <a:off x="2628900" y="4343400"/>
            <a:ext cx="209550" cy="209550"/>
          </a:xfrm>
          <a:prstGeom prst="ellipse">
            <a:avLst/>
          </a:prstGeom>
          <a:solidFill>
            <a:srgbClr val="F8BD0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C63994-CE73-49B7-AFB6-B6FBBE748F6C}"/>
              </a:ext>
            </a:extLst>
          </p:cNvPr>
          <p:cNvSpPr>
            <a:spLocks noGrp="1"/>
          </p:cNvSpPr>
          <p:nvPr/>
        </p:nvSpPr>
        <p:spPr>
          <a:xfrm>
            <a:off x="4210050" y="3486150"/>
            <a:ext cx="209550" cy="209550"/>
          </a:xfrm>
          <a:prstGeom prst="ellipse">
            <a:avLst/>
          </a:prstGeom>
          <a:solidFill>
            <a:srgbClr val="EC6F45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3B172A1F-C0B2-4E64-BF1A-219641968983}"/>
              </a:ext>
            </a:extLst>
          </p:cNvPr>
          <p:cNvSpPr>
            <a:spLocks noGrp="1"/>
          </p:cNvSpPr>
          <p:nvPr/>
        </p:nvSpPr>
        <p:spPr>
          <a:xfrm>
            <a:off x="4133850" y="4381500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511A22A-41AF-4E4F-90CE-C924CB110D5E}"/>
              </a:ext>
            </a:extLst>
          </p:cNvPr>
          <p:cNvSpPr>
            <a:spLocks noGrp="1"/>
          </p:cNvSpPr>
          <p:nvPr/>
        </p:nvSpPr>
        <p:spPr>
          <a:xfrm>
            <a:off x="514350" y="5124450"/>
            <a:ext cx="449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Observed layout after the break shot</a:t>
            </a:r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FB0497CF-FE93-4D97-A871-59A4E4828FCF}"/>
              </a:ext>
            </a:extLst>
          </p:cNvPr>
          <p:cNvSpPr>
            <a:spLocks noGrp="1"/>
          </p:cNvSpPr>
          <p:nvPr/>
        </p:nvSpPr>
        <p:spPr>
          <a:xfrm>
            <a:off x="5305425" y="3371850"/>
            <a:ext cx="876300" cy="60960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19A7D06F-04DE-4250-A098-BA7D1B37722F}"/>
              </a:ext>
            </a:extLst>
          </p:cNvPr>
          <p:cNvSpPr>
            <a:spLocks noGrp="1"/>
          </p:cNvSpPr>
          <p:nvPr/>
        </p:nvSpPr>
        <p:spPr>
          <a:xfrm>
            <a:off x="6426200" y="2600325"/>
            <a:ext cx="1847850" cy="590550"/>
          </a:xfrm>
          <a:prstGeom prst="roundRect">
            <a:avLst>
              <a:gd name="adj" fmla="val 25806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A1D1377-4B20-4FCD-8187-58A0BF4D801E}"/>
              </a:ext>
            </a:extLst>
          </p:cNvPr>
          <p:cNvSpPr>
            <a:spLocks noGrp="1"/>
          </p:cNvSpPr>
          <p:nvPr/>
        </p:nvSpPr>
        <p:spPr>
          <a:xfrm>
            <a:off x="6616700" y="2676525"/>
            <a:ext cx="1466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07FC4"/>
                </a:solidFill>
              </a:defRPr>
            </a:pPr>
            <a:r>
              <a:rPr sz="1650" b="1">
                <a:solidFill>
                  <a:srgbClr val="007FC4"/>
                </a:solidFill>
              </a:rPr>
              <a:t>Clear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C84A4BE-68D1-4C27-A574-EF8D8D5BB3B7}"/>
              </a:ext>
            </a:extLst>
          </p:cNvPr>
          <p:cNvSpPr>
            <a:spLocks noGrp="1"/>
          </p:cNvSpPr>
          <p:nvPr/>
        </p:nvSpPr>
        <p:spPr>
          <a:xfrm>
            <a:off x="6559550" y="2924175"/>
            <a:ext cx="1581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7083"/>
                </a:solidFill>
              </a:defRPr>
            </a:pPr>
            <a:r>
              <a:rPr sz="1050" b="0">
                <a:solidFill>
                  <a:srgbClr val="5B7083"/>
                </a:solidFill>
              </a:rPr>
              <a:t>rack cleared or not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B6FCE96-19FC-4F29-ACB7-AB0657676449}"/>
              </a:ext>
            </a:extLst>
          </p:cNvPr>
          <p:cNvSpPr>
            <a:spLocks noGrp="1"/>
          </p:cNvSpPr>
          <p:nvPr/>
        </p:nvSpPr>
        <p:spPr>
          <a:xfrm>
            <a:off x="6426200" y="3362325"/>
            <a:ext cx="1847850" cy="590550"/>
          </a:xfrm>
          <a:prstGeom prst="roundRect">
            <a:avLst>
              <a:gd name="adj" fmla="val 25806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1F0C224-0365-4383-817B-9FABC2842D0F}"/>
              </a:ext>
            </a:extLst>
          </p:cNvPr>
          <p:cNvSpPr>
            <a:spLocks noGrp="1"/>
          </p:cNvSpPr>
          <p:nvPr/>
        </p:nvSpPr>
        <p:spPr>
          <a:xfrm>
            <a:off x="6616700" y="3438525"/>
            <a:ext cx="1466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20C29F"/>
                </a:solidFill>
              </a:defRPr>
            </a:pPr>
            <a:r>
              <a:rPr sz="1650" b="1">
                <a:solidFill>
                  <a:srgbClr val="20C29F"/>
                </a:solidFill>
              </a:rPr>
              <a:t>Win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25BC51D-C78F-40B1-A9BA-C5EFC8682893}"/>
              </a:ext>
            </a:extLst>
          </p:cNvPr>
          <p:cNvSpPr>
            <a:spLocks noGrp="1"/>
          </p:cNvSpPr>
          <p:nvPr/>
        </p:nvSpPr>
        <p:spPr>
          <a:xfrm>
            <a:off x="6559550" y="3686175"/>
            <a:ext cx="1581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7083"/>
                </a:solidFill>
              </a:defRPr>
            </a:pPr>
            <a:r>
              <a:rPr sz="1050" b="0">
                <a:solidFill>
                  <a:srgbClr val="5B7083"/>
                </a:solidFill>
              </a:rPr>
              <a:t>match win or not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03766F07-B836-4D36-AABB-6EFFE683B20F}"/>
              </a:ext>
            </a:extLst>
          </p:cNvPr>
          <p:cNvSpPr>
            <a:spLocks noGrp="1"/>
          </p:cNvSpPr>
          <p:nvPr/>
        </p:nvSpPr>
        <p:spPr>
          <a:xfrm>
            <a:off x="6426200" y="4124325"/>
            <a:ext cx="1847850" cy="590550"/>
          </a:xfrm>
          <a:prstGeom prst="roundRect">
            <a:avLst>
              <a:gd name="adj" fmla="val 25806"/>
            </a:avLst>
          </a:prstGeom>
          <a:solidFill>
            <a:srgbClr val="FFF7DB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C07277E-239B-4E7D-90EC-75D128D7843A}"/>
              </a:ext>
            </a:extLst>
          </p:cNvPr>
          <p:cNvSpPr>
            <a:spLocks noGrp="1"/>
          </p:cNvSpPr>
          <p:nvPr/>
        </p:nvSpPr>
        <p:spPr>
          <a:xfrm>
            <a:off x="6616700" y="4200525"/>
            <a:ext cx="1466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8A6500"/>
                </a:solidFill>
              </a:defRPr>
            </a:pPr>
            <a:r>
              <a:rPr sz="1650" b="1">
                <a:solidFill>
                  <a:srgbClr val="8A6500"/>
                </a:solidFill>
              </a:rPr>
              <a:t>Potted count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174D05D-A4B0-4C84-984B-8DD56181DD9A}"/>
              </a:ext>
            </a:extLst>
          </p:cNvPr>
          <p:cNvSpPr>
            <a:spLocks noGrp="1"/>
          </p:cNvSpPr>
          <p:nvPr/>
        </p:nvSpPr>
        <p:spPr>
          <a:xfrm>
            <a:off x="6559550" y="4448175"/>
            <a:ext cx="1581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B7083"/>
                </a:solidFill>
              </a:defRPr>
            </a:pPr>
            <a:r>
              <a:rPr sz="1050" b="0">
                <a:solidFill>
                  <a:srgbClr val="5B7083"/>
                </a:solidFill>
              </a:rPr>
              <a:t>0 to 9 balls after break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23C8409-CA90-43AC-BE35-CC85B9837179}"/>
              </a:ext>
            </a:extLst>
          </p:cNvPr>
          <p:cNvSpPr>
            <a:spLocks noGrp="1"/>
          </p:cNvSpPr>
          <p:nvPr/>
        </p:nvSpPr>
        <p:spPr>
          <a:xfrm>
            <a:off x="8953500" y="1722035"/>
            <a:ext cx="2628900" cy="180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FB8BF28-C99C-4812-80BD-54FE63995DD6}"/>
              </a:ext>
            </a:extLst>
          </p:cNvPr>
          <p:cNvSpPr>
            <a:spLocks noGrp="1"/>
          </p:cNvSpPr>
          <p:nvPr/>
        </p:nvSpPr>
        <p:spPr>
          <a:xfrm>
            <a:off x="9124950" y="1893487"/>
            <a:ext cx="57150" cy="28575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08CA7BC-890D-4AAD-937D-79BA6EBD2ACF}"/>
              </a:ext>
            </a:extLst>
          </p:cNvPr>
          <p:cNvSpPr>
            <a:spLocks noGrp="1"/>
          </p:cNvSpPr>
          <p:nvPr/>
        </p:nvSpPr>
        <p:spPr>
          <a:xfrm>
            <a:off x="9296400" y="1874437"/>
            <a:ext cx="2114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Dataset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6A8F131B-8B05-4719-8764-42BF6D110010}"/>
              </a:ext>
            </a:extLst>
          </p:cNvPr>
          <p:cNvSpPr>
            <a:spLocks noGrp="1"/>
          </p:cNvSpPr>
          <p:nvPr/>
        </p:nvSpPr>
        <p:spPr>
          <a:xfrm>
            <a:off x="9144000" y="2217337"/>
            <a:ext cx="22479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- 1,940 accepted post-break layouts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- 776 train and 1,164 held-out test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- 6 to 10 active balls per scene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F81C8415-42DC-474A-9B9F-6AF62C0272B9}"/>
              </a:ext>
            </a:extLst>
          </p:cNvPr>
          <p:cNvSpPr>
            <a:spLocks noGrp="1"/>
          </p:cNvSpPr>
          <p:nvPr/>
        </p:nvSpPr>
        <p:spPr>
          <a:xfrm>
            <a:off x="8953500" y="3808012"/>
            <a:ext cx="2628900" cy="180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14AD110-9885-4111-89A2-249CB2F2BE92}"/>
              </a:ext>
            </a:extLst>
          </p:cNvPr>
          <p:cNvSpPr>
            <a:spLocks noGrp="1"/>
          </p:cNvSpPr>
          <p:nvPr/>
        </p:nvSpPr>
        <p:spPr>
          <a:xfrm>
            <a:off x="9124950" y="3979462"/>
            <a:ext cx="57150" cy="285750"/>
          </a:xfrm>
          <a:prstGeom prst="rect">
            <a:avLst/>
          </a:prstGeom>
          <a:solidFill>
            <a:srgbClr val="EC6F4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5EF8C1E-DF02-4008-80DB-3D68E6D2FFDD}"/>
              </a:ext>
            </a:extLst>
          </p:cNvPr>
          <p:cNvSpPr>
            <a:spLocks noGrp="1"/>
          </p:cNvSpPr>
          <p:nvPr/>
        </p:nvSpPr>
        <p:spPr>
          <a:xfrm>
            <a:off x="9296400" y="3960412"/>
            <a:ext cx="2114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Why it is hard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F5F3CCB-CBF0-471E-814D-FF4E829317F3}"/>
              </a:ext>
            </a:extLst>
          </p:cNvPr>
          <p:cNvSpPr>
            <a:spLocks noGrp="1"/>
          </p:cNvSpPr>
          <p:nvPr/>
        </p:nvSpPr>
        <p:spPr>
          <a:xfrm>
            <a:off x="9144000" y="4303312"/>
            <a:ext cx="22479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The scene is unordered and relational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Labels are correlated rather than independent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 dirty="0">
                <a:solidFill>
                  <a:srgbClr val="5B7083"/>
                </a:solidFill>
              </a:rPr>
              <a:t>- Potted-count classes are heavily imbalanced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8450EBE-81F8-4BFD-9E14-E01685406372}"/>
              </a:ext>
            </a:extLst>
          </p:cNvPr>
          <p:cNvSpPr>
            <a:spLocks noGrp="1"/>
          </p:cNvSpPr>
          <p:nvPr/>
        </p:nvSpPr>
        <p:spPr>
          <a:xfrm>
            <a:off x="6096000" y="5019675"/>
            <a:ext cx="25368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 dirty="0">
                <a:solidFill>
                  <a:srgbClr val="102A43"/>
                </a:solidFill>
              </a:rPr>
              <a:t>The model sees a set of objects,</a:t>
            </a:r>
          </a:p>
          <a:p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 dirty="0">
                <a:solidFill>
                  <a:srgbClr val="102A43"/>
                </a:solidFill>
              </a:rPr>
              <a:t>not a stable image raster.</a:t>
            </a:r>
          </a:p>
        </p:txBody>
      </p:sp>
    </p:spTree>
    <p:extLst>
      <p:ext uri="{BB962C8B-B14F-4D97-AF65-F5344CB8AC3E}">
        <p14:creationId xmlns:p14="http://schemas.microsoft.com/office/powerpoint/2010/main" val="1655138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矩形 150">
            <a:extLst>
              <a:ext uri="{FF2B5EF4-FFF2-40B4-BE49-F238E27FC236}">
                <a16:creationId xmlns:a16="http://schemas.microsoft.com/office/drawing/2014/main" id="{C5BB17F9-FF77-4AA2-B683-70A84AE730A8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5CB669-7645-4633-B3D6-839F3B23B274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D87411F-44BF-4A55-B803-9AD6AEB02D8D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D35718-91CA-4A5D-B522-6361EDA2E47E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A77F1E-DB4F-4532-8CCE-EAE0D17EF42B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3530B6-C260-490F-B01A-6DF934EB282A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 dirty="0">
                <a:solidFill>
                  <a:srgbClr val="102A43"/>
                </a:solidFill>
              </a:rPr>
              <a:t>From raw </a:t>
            </a:r>
            <a:r>
              <a:rPr lang="en-US" sz="2700" b="1" dirty="0">
                <a:solidFill>
                  <a:srgbClr val="102A43"/>
                </a:solidFill>
              </a:rPr>
              <a:t>data </a:t>
            </a:r>
            <a:r>
              <a:rPr sz="2700" b="1" dirty="0">
                <a:solidFill>
                  <a:srgbClr val="102A43"/>
                </a:solidFill>
              </a:rPr>
              <a:t>to one clean table state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4C47C9-F3D8-4CF9-89E1-5D6503C3DADE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81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>
                <a:solidFill>
                  <a:srgbClr val="5B7083"/>
                </a:solidFill>
              </a:rPr>
              <a:t>The model sees only the filtered, normalized object set after alignment and packing.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328EF92-5F09-4A3B-BD5D-D91FAA294288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4000500" cy="354330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6701E2-8EB4-47CC-8303-3DA7896E8B8F}"/>
              </a:ext>
            </a:extLst>
          </p:cNvPr>
          <p:cNvSpPr>
            <a:spLocks noGrp="1"/>
          </p:cNvSpPr>
          <p:nvPr/>
        </p:nvSpPr>
        <p:spPr>
          <a:xfrm>
            <a:off x="1028700" y="192387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A43"/>
                </a:solidFill>
              </a:defRPr>
            </a:pPr>
            <a:r>
              <a:rPr sz="1800" b="1" dirty="0">
                <a:solidFill>
                  <a:srgbClr val="102A43"/>
                </a:solidFill>
              </a:rPr>
              <a:t>Raw files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F3661BB-90CD-4E19-ADA3-83E7B1C97665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571500" cy="285750"/>
          </a:xfrm>
          <a:prstGeom prst="roundRect">
            <a:avLst>
              <a:gd name="adj" fmla="val 26667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AA437D9-6D13-457E-8C9D-938B8F656DF9}"/>
              </a:ext>
            </a:extLst>
          </p:cNvPr>
          <p:cNvSpPr>
            <a:spLocks noGrp="1"/>
          </p:cNvSpPr>
          <p:nvPr/>
        </p:nvSpPr>
        <p:spPr>
          <a:xfrm>
            <a:off x="1028700" y="2533650"/>
            <a:ext cx="5715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Frame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96A2C82-AB84-4C6D-AFD9-37E663C7155C}"/>
              </a:ext>
            </a:extLst>
          </p:cNvPr>
          <p:cNvSpPr>
            <a:spLocks noGrp="1"/>
          </p:cNvSpPr>
          <p:nvPr/>
        </p:nvSpPr>
        <p:spPr>
          <a:xfrm>
            <a:off x="1676400" y="2457450"/>
            <a:ext cx="876300" cy="285750"/>
          </a:xfrm>
          <a:prstGeom prst="roundRect">
            <a:avLst>
              <a:gd name="adj" fmla="val 26667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F82B5D-2474-48B3-847F-07FD14732095}"/>
              </a:ext>
            </a:extLst>
          </p:cNvPr>
          <p:cNvSpPr>
            <a:spLocks noGrp="1"/>
          </p:cNvSpPr>
          <p:nvPr/>
        </p:nvSpPr>
        <p:spPr>
          <a:xfrm>
            <a:off x="1676400" y="2533650"/>
            <a:ext cx="876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Potted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2C2EA61-E8AF-4B33-AE9C-F7EFADB8A7AD}"/>
              </a:ext>
            </a:extLst>
          </p:cNvPr>
          <p:cNvSpPr>
            <a:spLocks noGrp="1"/>
          </p:cNvSpPr>
          <p:nvPr/>
        </p:nvSpPr>
        <p:spPr>
          <a:xfrm>
            <a:off x="2628900" y="2457450"/>
            <a:ext cx="552450" cy="285750"/>
          </a:xfrm>
          <a:prstGeom prst="roundRect">
            <a:avLst>
              <a:gd name="adj" fmla="val 26667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B7A574-DC60-4936-834C-E81B1C736062}"/>
              </a:ext>
            </a:extLst>
          </p:cNvPr>
          <p:cNvSpPr>
            <a:spLocks noGrp="1"/>
          </p:cNvSpPr>
          <p:nvPr/>
        </p:nvSpPr>
        <p:spPr>
          <a:xfrm>
            <a:off x="2628900" y="2533650"/>
            <a:ext cx="5524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Clear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97B042E-C885-408B-AA88-CA2A2509310E}"/>
              </a:ext>
            </a:extLst>
          </p:cNvPr>
          <p:cNvSpPr>
            <a:spLocks noGrp="1"/>
          </p:cNvSpPr>
          <p:nvPr/>
        </p:nvSpPr>
        <p:spPr>
          <a:xfrm>
            <a:off x="3295650" y="2457450"/>
            <a:ext cx="457200" cy="285750"/>
          </a:xfrm>
          <a:prstGeom prst="roundRect">
            <a:avLst>
              <a:gd name="adj" fmla="val 26667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DB79B3-3778-4F20-9E23-1A81BFE514FF}"/>
              </a:ext>
            </a:extLst>
          </p:cNvPr>
          <p:cNvSpPr>
            <a:spLocks noGrp="1"/>
          </p:cNvSpPr>
          <p:nvPr/>
        </p:nvSpPr>
        <p:spPr>
          <a:xfrm>
            <a:off x="3295650" y="2533650"/>
            <a:ext cx="457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Win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3083D92-140C-4C35-AFE1-8BE11265B0F4}"/>
              </a:ext>
            </a:extLst>
          </p:cNvPr>
          <p:cNvSpPr>
            <a:spLocks noGrp="1"/>
          </p:cNvSpPr>
          <p:nvPr/>
        </p:nvSpPr>
        <p:spPr>
          <a:xfrm>
            <a:off x="3848100" y="2457450"/>
            <a:ext cx="704850" cy="285750"/>
          </a:xfrm>
          <a:prstGeom prst="roundRect">
            <a:avLst>
              <a:gd name="adj" fmla="val 26667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045CB19-A097-4E4B-9D3D-AA05FF7A8B00}"/>
              </a:ext>
            </a:extLst>
          </p:cNvPr>
          <p:cNvSpPr>
            <a:spLocks noGrp="1"/>
          </p:cNvSpPr>
          <p:nvPr/>
        </p:nvSpPr>
        <p:spPr>
          <a:xfrm>
            <a:off x="3848100" y="2533650"/>
            <a:ext cx="704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Remarks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0931627-BB2E-4E4E-BC94-16EFC7B97264}"/>
              </a:ext>
            </a:extLst>
          </p:cNvPr>
          <p:cNvSpPr>
            <a:spLocks noGrp="1"/>
          </p:cNvSpPr>
          <p:nvPr/>
        </p:nvSpPr>
        <p:spPr>
          <a:xfrm>
            <a:off x="1028700" y="2781300"/>
            <a:ext cx="3524250" cy="2667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019167-B22A-4116-816B-EB18BE16883F}"/>
              </a:ext>
            </a:extLst>
          </p:cNvPr>
          <p:cNvSpPr>
            <a:spLocks noGrp="1"/>
          </p:cNvSpPr>
          <p:nvPr/>
        </p:nvSpPr>
        <p:spPr>
          <a:xfrm>
            <a:off x="1028700" y="2847975"/>
            <a:ext cx="5715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AF06B6-2E26-4B24-B9DF-D0053F820D0E}"/>
              </a:ext>
            </a:extLst>
          </p:cNvPr>
          <p:cNvSpPr>
            <a:spLocks noGrp="1"/>
          </p:cNvSpPr>
          <p:nvPr/>
        </p:nvSpPr>
        <p:spPr>
          <a:xfrm>
            <a:off x="1676400" y="2847975"/>
            <a:ext cx="876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0B4E88-AF96-4DFB-BE39-1495E091D2C9}"/>
              </a:ext>
            </a:extLst>
          </p:cNvPr>
          <p:cNvSpPr>
            <a:spLocks noGrp="1"/>
          </p:cNvSpPr>
          <p:nvPr/>
        </p:nvSpPr>
        <p:spPr>
          <a:xfrm>
            <a:off x="2628900" y="2847975"/>
            <a:ext cx="5524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629B554-5967-43F5-9342-214E91E9BC5F}"/>
              </a:ext>
            </a:extLst>
          </p:cNvPr>
          <p:cNvSpPr>
            <a:spLocks noGrp="1"/>
          </p:cNvSpPr>
          <p:nvPr/>
        </p:nvSpPr>
        <p:spPr>
          <a:xfrm>
            <a:off x="3295650" y="2847975"/>
            <a:ext cx="457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8B2CE86-87A2-44FF-8536-F23202E55579}"/>
              </a:ext>
            </a:extLst>
          </p:cNvPr>
          <p:cNvSpPr>
            <a:spLocks noGrp="1"/>
          </p:cNvSpPr>
          <p:nvPr/>
        </p:nvSpPr>
        <p:spPr>
          <a:xfrm>
            <a:off x="3848100" y="2847975"/>
            <a:ext cx="704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1683D3B4-F59F-4ED8-9B0C-7FFCABE3C999}"/>
              </a:ext>
            </a:extLst>
          </p:cNvPr>
          <p:cNvSpPr>
            <a:spLocks noGrp="1"/>
          </p:cNvSpPr>
          <p:nvPr/>
        </p:nvSpPr>
        <p:spPr>
          <a:xfrm>
            <a:off x="1028700" y="3105150"/>
            <a:ext cx="3524250" cy="2667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FF132E9-5172-494C-A21E-D4622096FB23}"/>
              </a:ext>
            </a:extLst>
          </p:cNvPr>
          <p:cNvSpPr>
            <a:spLocks noGrp="1"/>
          </p:cNvSpPr>
          <p:nvPr/>
        </p:nvSpPr>
        <p:spPr>
          <a:xfrm>
            <a:off x="1028700" y="3171825"/>
            <a:ext cx="5715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828AC95-66B1-4555-91C7-50DABC3E1070}"/>
              </a:ext>
            </a:extLst>
          </p:cNvPr>
          <p:cNvSpPr>
            <a:spLocks noGrp="1"/>
          </p:cNvSpPr>
          <p:nvPr/>
        </p:nvSpPr>
        <p:spPr>
          <a:xfrm>
            <a:off x="1676400" y="3171825"/>
            <a:ext cx="876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FDE037E-A95E-40AC-9DB8-5C7070E34DAA}"/>
              </a:ext>
            </a:extLst>
          </p:cNvPr>
          <p:cNvSpPr>
            <a:spLocks noGrp="1"/>
          </p:cNvSpPr>
          <p:nvPr/>
        </p:nvSpPr>
        <p:spPr>
          <a:xfrm>
            <a:off x="2628900" y="3171825"/>
            <a:ext cx="5524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16EA1C2-F7CA-4738-B5F4-CFD07D5FD67B}"/>
              </a:ext>
            </a:extLst>
          </p:cNvPr>
          <p:cNvSpPr>
            <a:spLocks noGrp="1"/>
          </p:cNvSpPr>
          <p:nvPr/>
        </p:nvSpPr>
        <p:spPr>
          <a:xfrm>
            <a:off x="3295650" y="3171825"/>
            <a:ext cx="457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60AC154-37AB-4108-9FC4-29BA7D696D29}"/>
              </a:ext>
            </a:extLst>
          </p:cNvPr>
          <p:cNvSpPr>
            <a:spLocks noGrp="1"/>
          </p:cNvSpPr>
          <p:nvPr/>
        </p:nvSpPr>
        <p:spPr>
          <a:xfrm>
            <a:off x="3848100" y="3171825"/>
            <a:ext cx="704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8C57F71-1325-4863-9F82-462B8D4B7861}"/>
              </a:ext>
            </a:extLst>
          </p:cNvPr>
          <p:cNvSpPr>
            <a:spLocks noGrp="1"/>
          </p:cNvSpPr>
          <p:nvPr/>
        </p:nvSpPr>
        <p:spPr>
          <a:xfrm>
            <a:off x="1028700" y="3429000"/>
            <a:ext cx="3524250" cy="266700"/>
          </a:xfrm>
          <a:prstGeom prst="roundRect">
            <a:avLst>
              <a:gd name="adj" fmla="val 21429"/>
            </a:avLst>
          </a:prstGeom>
          <a:solidFill>
            <a:srgbClr val="FFF1EE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96F12F0-5E5E-44B0-883F-7255069C504C}"/>
              </a:ext>
            </a:extLst>
          </p:cNvPr>
          <p:cNvSpPr>
            <a:spLocks noGrp="1"/>
          </p:cNvSpPr>
          <p:nvPr/>
        </p:nvSpPr>
        <p:spPr>
          <a:xfrm>
            <a:off x="1028700" y="3495675"/>
            <a:ext cx="5715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8187E9D-CFB6-4BD6-8D4D-B340BBBC78A4}"/>
              </a:ext>
            </a:extLst>
          </p:cNvPr>
          <p:cNvSpPr>
            <a:spLocks noGrp="1"/>
          </p:cNvSpPr>
          <p:nvPr/>
        </p:nvSpPr>
        <p:spPr>
          <a:xfrm>
            <a:off x="1676400" y="3495675"/>
            <a:ext cx="876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7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330333A-36E7-4423-A75D-2F5F5B6FBC40}"/>
              </a:ext>
            </a:extLst>
          </p:cNvPr>
          <p:cNvSpPr>
            <a:spLocks noGrp="1"/>
          </p:cNvSpPr>
          <p:nvPr/>
        </p:nvSpPr>
        <p:spPr>
          <a:xfrm>
            <a:off x="2628900" y="3495675"/>
            <a:ext cx="5524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EBF5CD7-D2DB-451E-89C9-3E029D8F676A}"/>
              </a:ext>
            </a:extLst>
          </p:cNvPr>
          <p:cNvSpPr>
            <a:spLocks noGrp="1"/>
          </p:cNvSpPr>
          <p:nvPr/>
        </p:nvSpPr>
        <p:spPr>
          <a:xfrm>
            <a:off x="3295650" y="3495675"/>
            <a:ext cx="457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53F42B5-EFE4-46FF-80C1-1E158CFF2C8E}"/>
              </a:ext>
            </a:extLst>
          </p:cNvPr>
          <p:cNvSpPr>
            <a:spLocks noGrp="1"/>
          </p:cNvSpPr>
          <p:nvPr/>
        </p:nvSpPr>
        <p:spPr>
          <a:xfrm>
            <a:off x="3848100" y="3495675"/>
            <a:ext cx="704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EC6F45"/>
                </a:solidFill>
              </a:defRPr>
            </a:pPr>
            <a:r>
              <a:rPr sz="900" b="1">
                <a:solidFill>
                  <a:srgbClr val="EC6F45"/>
                </a:solidFill>
              </a:rPr>
              <a:t>foul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F38701F7-B2BA-40B5-8206-EF64C54A3F22}"/>
              </a:ext>
            </a:extLst>
          </p:cNvPr>
          <p:cNvSpPr>
            <a:spLocks noGrp="1"/>
          </p:cNvSpPr>
          <p:nvPr/>
        </p:nvSpPr>
        <p:spPr>
          <a:xfrm>
            <a:off x="1028700" y="3752850"/>
            <a:ext cx="3524250" cy="266700"/>
          </a:xfrm>
          <a:prstGeom prst="roundRect">
            <a:avLst>
              <a:gd name="adj" fmla="val 21429"/>
            </a:avLst>
          </a:prstGeom>
          <a:solidFill>
            <a:srgbClr val="FFF1EE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1AE12C3-9C32-4813-83B3-A776B9D9A529}"/>
              </a:ext>
            </a:extLst>
          </p:cNvPr>
          <p:cNvSpPr>
            <a:spLocks noGrp="1"/>
          </p:cNvSpPr>
          <p:nvPr/>
        </p:nvSpPr>
        <p:spPr>
          <a:xfrm>
            <a:off x="1028700" y="3819525"/>
            <a:ext cx="5715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9A00F72-AFE6-4AC8-91B0-7B0E1A9DF1B1}"/>
              </a:ext>
            </a:extLst>
          </p:cNvPr>
          <p:cNvSpPr>
            <a:spLocks noGrp="1"/>
          </p:cNvSpPr>
          <p:nvPr/>
        </p:nvSpPr>
        <p:spPr>
          <a:xfrm>
            <a:off x="1676400" y="3819525"/>
            <a:ext cx="876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7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886A169-8750-4D7C-A1BB-711FBBBBF412}"/>
              </a:ext>
            </a:extLst>
          </p:cNvPr>
          <p:cNvSpPr>
            <a:spLocks noGrp="1"/>
          </p:cNvSpPr>
          <p:nvPr/>
        </p:nvSpPr>
        <p:spPr>
          <a:xfrm>
            <a:off x="2628900" y="3819525"/>
            <a:ext cx="5524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3D5B15-1714-49BB-914F-6ACD90DDB494}"/>
              </a:ext>
            </a:extLst>
          </p:cNvPr>
          <p:cNvSpPr>
            <a:spLocks noGrp="1"/>
          </p:cNvSpPr>
          <p:nvPr/>
        </p:nvSpPr>
        <p:spPr>
          <a:xfrm>
            <a:off x="3295650" y="3819525"/>
            <a:ext cx="457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0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6C568F1-16B3-4466-8FED-3298B91F47F3}"/>
              </a:ext>
            </a:extLst>
          </p:cNvPr>
          <p:cNvSpPr>
            <a:spLocks noGrp="1"/>
          </p:cNvSpPr>
          <p:nvPr/>
        </p:nvSpPr>
        <p:spPr>
          <a:xfrm>
            <a:off x="3848100" y="3819525"/>
            <a:ext cx="704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EC6F45"/>
                </a:solidFill>
              </a:defRPr>
            </a:pPr>
            <a:r>
              <a:rPr sz="900" b="1">
                <a:solidFill>
                  <a:srgbClr val="EC6F45"/>
                </a:solidFill>
              </a:rPr>
              <a:t>duplicate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813C9FF-8588-4108-895F-DD517CB34E27}"/>
              </a:ext>
            </a:extLst>
          </p:cNvPr>
          <p:cNvSpPr>
            <a:spLocks noGrp="1"/>
          </p:cNvSpPr>
          <p:nvPr/>
        </p:nvSpPr>
        <p:spPr>
          <a:xfrm>
            <a:off x="1028700" y="4171950"/>
            <a:ext cx="3524250" cy="819150"/>
          </a:xfrm>
          <a:prstGeom prst="roundRect">
            <a:avLst>
              <a:gd name="adj" fmla="val 13953"/>
            </a:avLst>
          </a:prstGeom>
          <a:solidFill>
            <a:srgbClr val="F8FA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46F314-0075-4E6F-A74E-979F60B56ABF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114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Frame 1.xml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EC361281-2384-4D53-84C6-404DFFD67001}"/>
              </a:ext>
            </a:extLst>
          </p:cNvPr>
          <p:cNvSpPr>
            <a:spLocks noGrp="1"/>
          </p:cNvSpPr>
          <p:nvPr/>
        </p:nvSpPr>
        <p:spPr>
          <a:xfrm>
            <a:off x="1200150" y="4552950"/>
            <a:ext cx="3124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B7083"/>
                </a:solidFill>
              </a:defRPr>
            </a:pPr>
            <a:r>
              <a:rPr sz="975" b="0">
                <a:solidFill>
                  <a:srgbClr val="5B7083"/>
                </a:solidFill>
              </a:rPr>
              <a:t>&lt;ball id="2" x="137.2" y="64.8"/&gt;</a:t>
            </a:r>
          </a:p>
          <a:p>
            <a:pPr algn="l">
              <a:defRPr sz="975" b="0">
                <a:solidFill>
                  <a:srgbClr val="5B7083"/>
                </a:solidFill>
              </a:defRPr>
            </a:pPr>
            <a:r>
              <a:rPr sz="975" b="0">
                <a:solidFill>
                  <a:srgbClr val="5B7083"/>
                </a:solidFill>
              </a:rPr>
              <a:t>&lt;ball id="9" x="95.1" y="17.3"/&gt;  orientation=V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421A8D76-AD3E-4001-98FF-E9581EF8B2D9}"/>
              </a:ext>
            </a:extLst>
          </p:cNvPr>
          <p:cNvSpPr>
            <a:spLocks noGrp="1"/>
          </p:cNvSpPr>
          <p:nvPr/>
        </p:nvSpPr>
        <p:spPr>
          <a:xfrm>
            <a:off x="5029200" y="2362200"/>
            <a:ext cx="819150" cy="36195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EE58F51-56F9-41E3-B73D-BFB58654DE0F}"/>
              </a:ext>
            </a:extLst>
          </p:cNvPr>
          <p:cNvSpPr>
            <a:spLocks noGrp="1"/>
          </p:cNvSpPr>
          <p:nvPr/>
        </p:nvSpPr>
        <p:spPr>
          <a:xfrm>
            <a:off x="5029200" y="24574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007FC4"/>
                </a:solidFill>
              </a:defRPr>
            </a:pPr>
            <a:r>
              <a:rPr sz="1125" b="1">
                <a:solidFill>
                  <a:srgbClr val="007FC4"/>
                </a:solidFill>
              </a:rPr>
              <a:t>align</a:t>
            </a:r>
          </a:p>
        </p:txBody>
      </p:sp>
      <p:sp>
        <p:nvSpPr>
          <p:cNvPr id="50" name="箭头: 下 49">
            <a:extLst>
              <a:ext uri="{FF2B5EF4-FFF2-40B4-BE49-F238E27FC236}">
                <a16:creationId xmlns:a16="http://schemas.microsoft.com/office/drawing/2014/main" id="{E5ABD4C0-BCC9-4768-BD1E-9081B611F134}"/>
              </a:ext>
            </a:extLst>
          </p:cNvPr>
          <p:cNvSpPr>
            <a:spLocks noGrp="1"/>
          </p:cNvSpPr>
          <p:nvPr/>
        </p:nvSpPr>
        <p:spPr>
          <a:xfrm>
            <a:off x="5334000" y="2762250"/>
            <a:ext cx="209550" cy="152400"/>
          </a:xfrm>
          <a:prstGeom prst="downArrow">
            <a:avLst/>
          </a:prstGeom>
          <a:solidFill>
            <a:srgbClr val="AAB8B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98A0119-3BFD-4753-A4EA-CAC0BECEB719}"/>
              </a:ext>
            </a:extLst>
          </p:cNvPr>
          <p:cNvSpPr>
            <a:spLocks noGrp="1"/>
          </p:cNvSpPr>
          <p:nvPr/>
        </p:nvSpPr>
        <p:spPr>
          <a:xfrm>
            <a:off x="5029200" y="2971800"/>
            <a:ext cx="819150" cy="361950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C927370-2C4F-4FDC-A15F-871E48504D4E}"/>
              </a:ext>
            </a:extLst>
          </p:cNvPr>
          <p:cNvSpPr>
            <a:spLocks noGrp="1"/>
          </p:cNvSpPr>
          <p:nvPr/>
        </p:nvSpPr>
        <p:spPr>
          <a:xfrm>
            <a:off x="5029200" y="30670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0C29F"/>
                </a:solidFill>
              </a:defRPr>
            </a:pPr>
            <a:r>
              <a:rPr sz="1125" b="1">
                <a:solidFill>
                  <a:srgbClr val="20C29F"/>
                </a:solidFill>
              </a:rPr>
              <a:t>filter</a:t>
            </a:r>
          </a:p>
        </p:txBody>
      </p:sp>
      <p:sp>
        <p:nvSpPr>
          <p:cNvPr id="53" name="箭头: 下 52">
            <a:extLst>
              <a:ext uri="{FF2B5EF4-FFF2-40B4-BE49-F238E27FC236}">
                <a16:creationId xmlns:a16="http://schemas.microsoft.com/office/drawing/2014/main" id="{1F2589DC-72A3-40CD-BD74-8995CE76BE2C}"/>
              </a:ext>
            </a:extLst>
          </p:cNvPr>
          <p:cNvSpPr>
            <a:spLocks noGrp="1"/>
          </p:cNvSpPr>
          <p:nvPr/>
        </p:nvSpPr>
        <p:spPr>
          <a:xfrm>
            <a:off x="5334000" y="3371850"/>
            <a:ext cx="209550" cy="152400"/>
          </a:xfrm>
          <a:prstGeom prst="downArrow">
            <a:avLst/>
          </a:prstGeom>
          <a:solidFill>
            <a:srgbClr val="AAB8B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3D96BD0-3494-4082-87A4-33D6474F468A}"/>
              </a:ext>
            </a:extLst>
          </p:cNvPr>
          <p:cNvSpPr>
            <a:spLocks noGrp="1"/>
          </p:cNvSpPr>
          <p:nvPr/>
        </p:nvSpPr>
        <p:spPr>
          <a:xfrm>
            <a:off x="5029200" y="3581400"/>
            <a:ext cx="819150" cy="361950"/>
          </a:xfrm>
          <a:prstGeom prst="roundRect">
            <a:avLst>
              <a:gd name="adj" fmla="val 50000"/>
            </a:avLst>
          </a:prstGeom>
          <a:solidFill>
            <a:srgbClr val="FFF7DB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FB46219-EB67-4000-9E37-92EDD1A8F0AA}"/>
              </a:ext>
            </a:extLst>
          </p:cNvPr>
          <p:cNvSpPr>
            <a:spLocks noGrp="1"/>
          </p:cNvSpPr>
          <p:nvPr/>
        </p:nvSpPr>
        <p:spPr>
          <a:xfrm>
            <a:off x="5029200" y="36766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8A6500"/>
                </a:solidFill>
              </a:defRPr>
            </a:pPr>
            <a:r>
              <a:rPr sz="1125" b="1">
                <a:solidFill>
                  <a:srgbClr val="8A6500"/>
                </a:solidFill>
              </a:rPr>
              <a:t>normalize</a:t>
            </a:r>
          </a:p>
        </p:txBody>
      </p:sp>
      <p:sp>
        <p:nvSpPr>
          <p:cNvPr id="56" name="箭头: 下 55">
            <a:extLst>
              <a:ext uri="{FF2B5EF4-FFF2-40B4-BE49-F238E27FC236}">
                <a16:creationId xmlns:a16="http://schemas.microsoft.com/office/drawing/2014/main" id="{BF8975AB-411A-41E2-9E6D-ED325E3A2AC8}"/>
              </a:ext>
            </a:extLst>
          </p:cNvPr>
          <p:cNvSpPr>
            <a:spLocks noGrp="1"/>
          </p:cNvSpPr>
          <p:nvPr/>
        </p:nvSpPr>
        <p:spPr>
          <a:xfrm>
            <a:off x="5334000" y="3981450"/>
            <a:ext cx="209550" cy="152400"/>
          </a:xfrm>
          <a:prstGeom prst="downArrow">
            <a:avLst/>
          </a:prstGeom>
          <a:solidFill>
            <a:srgbClr val="AAB8B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46C6FF8-2993-49B8-BA98-134DCEA7D888}"/>
              </a:ext>
            </a:extLst>
          </p:cNvPr>
          <p:cNvSpPr>
            <a:spLocks noGrp="1"/>
          </p:cNvSpPr>
          <p:nvPr/>
        </p:nvSpPr>
        <p:spPr>
          <a:xfrm>
            <a:off x="5029200" y="4191000"/>
            <a:ext cx="819150" cy="361950"/>
          </a:xfrm>
          <a:prstGeom prst="roundRect">
            <a:avLst>
              <a:gd name="adj" fmla="val 50000"/>
            </a:avLst>
          </a:prstGeom>
          <a:solidFill>
            <a:srgbClr val="FDF0EA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7A754BD-3EA1-400D-AA2F-A58B3F88136A}"/>
              </a:ext>
            </a:extLst>
          </p:cNvPr>
          <p:cNvSpPr>
            <a:spLocks noGrp="1"/>
          </p:cNvSpPr>
          <p:nvPr/>
        </p:nvSpPr>
        <p:spPr>
          <a:xfrm>
            <a:off x="5029200" y="42862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EC6F45"/>
                </a:solidFill>
              </a:defRPr>
            </a:pPr>
            <a:r>
              <a:rPr sz="1125" b="1">
                <a:solidFill>
                  <a:srgbClr val="EC6F45"/>
                </a:solidFill>
              </a:rPr>
              <a:t>pack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AD848814-A824-4AC3-BB94-884B74446B83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5410200" cy="354330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B6B4D2F-565C-4ACC-893B-C46C08556155}"/>
              </a:ext>
            </a:extLst>
          </p:cNvPr>
          <p:cNvSpPr>
            <a:spLocks noGrp="1"/>
          </p:cNvSpPr>
          <p:nvPr/>
        </p:nvSpPr>
        <p:spPr>
          <a:xfrm>
            <a:off x="6343650" y="1847850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Clean model input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1619A19-BBB8-4436-B6FB-7A2D8BFC7E7E}"/>
              </a:ext>
            </a:extLst>
          </p:cNvPr>
          <p:cNvSpPr>
            <a:spLocks noGrp="1"/>
          </p:cNvSpPr>
          <p:nvPr/>
        </p:nvSpPr>
        <p:spPr>
          <a:xfrm>
            <a:off x="6343650" y="2133600"/>
            <a:ext cx="5162550" cy="2381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B7083"/>
                </a:solidFill>
              </a:defRPr>
            </a:pPr>
            <a:r>
              <a:rPr sz="1125" b="0" dirty="0">
                <a:solidFill>
                  <a:srgbClr val="5B7083"/>
                </a:solidFill>
              </a:rPr>
              <a:t>One accepted post-break state, normalized to [0,1], then packed as tokens.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DB552EE-51E9-4772-86C8-67BED18A5663}"/>
              </a:ext>
            </a:extLst>
          </p:cNvPr>
          <p:cNvSpPr>
            <a:spLocks noGrp="1"/>
          </p:cNvSpPr>
          <p:nvPr/>
        </p:nvSpPr>
        <p:spPr>
          <a:xfrm>
            <a:off x="6362700" y="2457450"/>
            <a:ext cx="1676400" cy="2038350"/>
          </a:xfrm>
          <a:prstGeom prst="roundRect">
            <a:avLst>
              <a:gd name="adj" fmla="val 9091"/>
            </a:avLst>
          </a:prstGeom>
          <a:solidFill>
            <a:srgbClr val="6A7B00"/>
          </a:solidFill>
          <a:ln w="11430">
            <a:solidFill>
              <a:srgbClr val="56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BBD5A0BD-1272-4EDB-B8E5-0F7215C18AD8}"/>
              </a:ext>
            </a:extLst>
          </p:cNvPr>
          <p:cNvSpPr>
            <a:spLocks noGrp="1"/>
          </p:cNvSpPr>
          <p:nvPr/>
        </p:nvSpPr>
        <p:spPr>
          <a:xfrm>
            <a:off x="6515100" y="2609850"/>
            <a:ext cx="1371600" cy="1733550"/>
          </a:xfrm>
          <a:prstGeom prst="roundRect">
            <a:avLst>
              <a:gd name="adj" fmla="val 8333"/>
            </a:avLst>
          </a:prstGeom>
          <a:solidFill>
            <a:srgbClr val="0B9150"/>
          </a:solidFill>
          <a:ln w="9525">
            <a:solidFill>
              <a:srgbClr val="0B915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F1FD8FAB-0B47-40ED-B7B6-997C36EDB3C4}"/>
              </a:ext>
            </a:extLst>
          </p:cNvPr>
          <p:cNvSpPr>
            <a:spLocks noGrp="1"/>
          </p:cNvSpPr>
          <p:nvPr/>
        </p:nvSpPr>
        <p:spPr>
          <a:xfrm>
            <a:off x="6629400" y="2647950"/>
            <a:ext cx="1143000" cy="165735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E36D0347-EA55-4C78-A125-715B3A20D618}"/>
              </a:ext>
            </a:extLst>
          </p:cNvPr>
          <p:cNvSpPr>
            <a:spLocks noGrp="1"/>
          </p:cNvSpPr>
          <p:nvPr/>
        </p:nvSpPr>
        <p:spPr>
          <a:xfrm>
            <a:off x="6457950" y="25527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3E51E91-8ACC-411B-9235-D46E4EEE3F47}"/>
              </a:ext>
            </a:extLst>
          </p:cNvPr>
          <p:cNvSpPr>
            <a:spLocks noGrp="1"/>
          </p:cNvSpPr>
          <p:nvPr/>
        </p:nvSpPr>
        <p:spPr>
          <a:xfrm>
            <a:off x="7772400" y="25527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A4A62C58-C6BB-44E9-9791-54E86BB5886F}"/>
              </a:ext>
            </a:extLst>
          </p:cNvPr>
          <p:cNvSpPr>
            <a:spLocks noGrp="1"/>
          </p:cNvSpPr>
          <p:nvPr/>
        </p:nvSpPr>
        <p:spPr>
          <a:xfrm>
            <a:off x="6457950" y="33909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5C1A547-8A2A-4289-843C-A676E510D9E6}"/>
              </a:ext>
            </a:extLst>
          </p:cNvPr>
          <p:cNvSpPr>
            <a:spLocks noGrp="1"/>
          </p:cNvSpPr>
          <p:nvPr/>
        </p:nvSpPr>
        <p:spPr>
          <a:xfrm>
            <a:off x="7772400" y="33909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E3440F56-E19C-4749-AE11-8CA61534D78A}"/>
              </a:ext>
            </a:extLst>
          </p:cNvPr>
          <p:cNvSpPr>
            <a:spLocks noGrp="1"/>
          </p:cNvSpPr>
          <p:nvPr/>
        </p:nvSpPr>
        <p:spPr>
          <a:xfrm>
            <a:off x="6457950" y="42291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B77824EF-153E-470D-91EE-750B3F349268}"/>
              </a:ext>
            </a:extLst>
          </p:cNvPr>
          <p:cNvSpPr>
            <a:spLocks noGrp="1"/>
          </p:cNvSpPr>
          <p:nvPr/>
        </p:nvSpPr>
        <p:spPr>
          <a:xfrm>
            <a:off x="7772400" y="42291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542653B5-52F8-4A7D-AEBD-39B253B257C2}"/>
              </a:ext>
            </a:extLst>
          </p:cNvPr>
          <p:cNvSpPr>
            <a:spLocks noGrp="1"/>
          </p:cNvSpPr>
          <p:nvPr/>
        </p:nvSpPr>
        <p:spPr>
          <a:xfrm>
            <a:off x="6762750" y="3067050"/>
            <a:ext cx="209550" cy="209550"/>
          </a:xfrm>
          <a:prstGeom prst="ellipse">
            <a:avLst/>
          </a:prstGeom>
          <a:solidFill>
            <a:srgbClr val="FFFFFF"/>
          </a:solidFill>
          <a:ln w="10478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FA816514-CCE7-4257-9222-C64D47E6CDA0}"/>
              </a:ext>
            </a:extLst>
          </p:cNvPr>
          <p:cNvSpPr>
            <a:spLocks noGrp="1"/>
          </p:cNvSpPr>
          <p:nvPr/>
        </p:nvSpPr>
        <p:spPr>
          <a:xfrm>
            <a:off x="7258050" y="2876550"/>
            <a:ext cx="209550" cy="209550"/>
          </a:xfrm>
          <a:prstGeom prst="ellipse">
            <a:avLst/>
          </a:prstGeom>
          <a:solidFill>
            <a:srgbClr val="F8BD01"/>
          </a:solidFill>
          <a:ln w="10478">
            <a:solidFill>
              <a:srgbClr val="8A65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15FF7686-40B5-4DC1-A327-48AE31565EBA}"/>
              </a:ext>
            </a:extLst>
          </p:cNvPr>
          <p:cNvSpPr>
            <a:spLocks noGrp="1"/>
          </p:cNvSpPr>
          <p:nvPr/>
        </p:nvSpPr>
        <p:spPr>
          <a:xfrm>
            <a:off x="7258050" y="291465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9</a:t>
            </a: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A7CB2419-F1A8-4923-8C9E-5DE66A86394A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209550" cy="209550"/>
          </a:xfrm>
          <a:prstGeom prst="ellipse">
            <a:avLst/>
          </a:prstGeom>
          <a:solidFill>
            <a:srgbClr val="007FC4"/>
          </a:solidFill>
          <a:ln w="10478">
            <a:solidFill>
              <a:srgbClr val="0A4D7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31C2F15-DA96-4ED1-BC34-5584CE20942F}"/>
              </a:ext>
            </a:extLst>
          </p:cNvPr>
          <p:cNvSpPr>
            <a:spLocks noGrp="1"/>
          </p:cNvSpPr>
          <p:nvPr/>
        </p:nvSpPr>
        <p:spPr>
          <a:xfrm>
            <a:off x="7391400" y="365760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C7FEA66B-E2A7-48C2-87BC-23AB34BD9A7F}"/>
              </a:ext>
            </a:extLst>
          </p:cNvPr>
          <p:cNvSpPr>
            <a:spLocks noGrp="1"/>
          </p:cNvSpPr>
          <p:nvPr/>
        </p:nvSpPr>
        <p:spPr>
          <a:xfrm>
            <a:off x="7277100" y="4095750"/>
            <a:ext cx="209550" cy="209550"/>
          </a:xfrm>
          <a:prstGeom prst="ellipse">
            <a:avLst/>
          </a:prstGeom>
          <a:solidFill>
            <a:srgbClr val="F16B5B"/>
          </a:solidFill>
          <a:ln w="10478">
            <a:solidFill>
              <a:srgbClr val="B44A4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7BC996F4-5929-4433-BF8F-3E2F2C287F19}"/>
              </a:ext>
            </a:extLst>
          </p:cNvPr>
          <p:cNvSpPr>
            <a:spLocks noGrp="1"/>
          </p:cNvSpPr>
          <p:nvPr/>
        </p:nvSpPr>
        <p:spPr>
          <a:xfrm>
            <a:off x="7277100" y="413385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8928EFC0-01C4-4B77-81BB-CF201919F7DC}"/>
              </a:ext>
            </a:extLst>
          </p:cNvPr>
          <p:cNvSpPr>
            <a:spLocks noGrp="1"/>
          </p:cNvSpPr>
          <p:nvPr/>
        </p:nvSpPr>
        <p:spPr>
          <a:xfrm>
            <a:off x="6438900" y="4572000"/>
            <a:ext cx="152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B7083"/>
                </a:solidFill>
              </a:defRPr>
            </a:pPr>
            <a:r>
              <a:rPr sz="975" b="0">
                <a:solidFill>
                  <a:srgbClr val="5B7083"/>
                </a:solidFill>
              </a:rPr>
              <a:t>accepted post-break layout</a:t>
            </a:r>
          </a:p>
        </p:txBody>
      </p:sp>
      <p:sp>
        <p:nvSpPr>
          <p:cNvPr id="79" name="箭头: 右 78">
            <a:extLst>
              <a:ext uri="{FF2B5EF4-FFF2-40B4-BE49-F238E27FC236}">
                <a16:creationId xmlns:a16="http://schemas.microsoft.com/office/drawing/2014/main" id="{4C22C2B9-52CB-490A-A9BA-5565533E7D4D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342900" cy="20955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B5F823F0-C9E1-42B9-A00D-12CEAF6F1CA9}"/>
              </a:ext>
            </a:extLst>
          </p:cNvPr>
          <p:cNvSpPr>
            <a:spLocks noGrp="1"/>
          </p:cNvSpPr>
          <p:nvPr/>
        </p:nvSpPr>
        <p:spPr>
          <a:xfrm>
            <a:off x="8724900" y="2495550"/>
            <a:ext cx="2362200" cy="1485900"/>
          </a:xfrm>
          <a:prstGeom prst="rect">
            <a:avLst/>
          </a:prstGeom>
          <a:solidFill>
            <a:srgbClr val="FFFFFF"/>
          </a:solidFill>
          <a:ln w="10478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45F20D5-CDB0-489C-84DD-E466CFA3D5BC}"/>
              </a:ext>
            </a:extLst>
          </p:cNvPr>
          <p:cNvSpPr>
            <a:spLocks noGrp="1"/>
          </p:cNvSpPr>
          <p:nvPr/>
        </p:nvSpPr>
        <p:spPr>
          <a:xfrm>
            <a:off x="8724900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77CA7FB0-6043-48F6-85B3-05A066411E5A}"/>
              </a:ext>
            </a:extLst>
          </p:cNvPr>
          <p:cNvSpPr>
            <a:spLocks noGrp="1"/>
          </p:cNvSpPr>
          <p:nvPr/>
        </p:nvSpPr>
        <p:spPr>
          <a:xfrm>
            <a:off x="9020175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F1D539B8-ED3E-4EC6-9EBE-A0AC728E5137}"/>
              </a:ext>
            </a:extLst>
          </p:cNvPr>
          <p:cNvSpPr>
            <a:spLocks noGrp="1"/>
          </p:cNvSpPr>
          <p:nvPr/>
        </p:nvSpPr>
        <p:spPr>
          <a:xfrm>
            <a:off x="9315450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83ADD6A-49E3-4AC0-A2A8-C27328F4977B}"/>
              </a:ext>
            </a:extLst>
          </p:cNvPr>
          <p:cNvSpPr>
            <a:spLocks noGrp="1"/>
          </p:cNvSpPr>
          <p:nvPr/>
        </p:nvSpPr>
        <p:spPr>
          <a:xfrm>
            <a:off x="9610725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3E4F3E5-DE47-4B27-A898-A1520F557FD7}"/>
              </a:ext>
            </a:extLst>
          </p:cNvPr>
          <p:cNvSpPr>
            <a:spLocks noGrp="1"/>
          </p:cNvSpPr>
          <p:nvPr/>
        </p:nvSpPr>
        <p:spPr>
          <a:xfrm>
            <a:off x="9906000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C269191C-50F0-4F0A-9EFB-329AF201B0B3}"/>
              </a:ext>
            </a:extLst>
          </p:cNvPr>
          <p:cNvSpPr>
            <a:spLocks noGrp="1"/>
          </p:cNvSpPr>
          <p:nvPr/>
        </p:nvSpPr>
        <p:spPr>
          <a:xfrm>
            <a:off x="10201275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A7D49F64-BB1D-4D5F-8CCB-C52264798C9C}"/>
              </a:ext>
            </a:extLst>
          </p:cNvPr>
          <p:cNvSpPr>
            <a:spLocks noGrp="1"/>
          </p:cNvSpPr>
          <p:nvPr/>
        </p:nvSpPr>
        <p:spPr>
          <a:xfrm>
            <a:off x="10496550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B67A00D-4DD2-46B1-AF4F-15C60AB9A6C3}"/>
              </a:ext>
            </a:extLst>
          </p:cNvPr>
          <p:cNvSpPr>
            <a:spLocks noGrp="1"/>
          </p:cNvSpPr>
          <p:nvPr/>
        </p:nvSpPr>
        <p:spPr>
          <a:xfrm>
            <a:off x="10791825" y="24955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8299482-DA95-4B17-8BB5-5FFB2CBC7ED3}"/>
              </a:ext>
            </a:extLst>
          </p:cNvPr>
          <p:cNvSpPr>
            <a:spLocks noGrp="1"/>
          </p:cNvSpPr>
          <p:nvPr/>
        </p:nvSpPr>
        <p:spPr>
          <a:xfrm>
            <a:off x="8724900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B5F98DF1-0E31-4418-856A-276C2FD14C59}"/>
              </a:ext>
            </a:extLst>
          </p:cNvPr>
          <p:cNvSpPr>
            <a:spLocks noGrp="1"/>
          </p:cNvSpPr>
          <p:nvPr/>
        </p:nvSpPr>
        <p:spPr>
          <a:xfrm>
            <a:off x="9020175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9DDE0DE-9D5F-469D-9318-E76A37D5951C}"/>
              </a:ext>
            </a:extLst>
          </p:cNvPr>
          <p:cNvSpPr>
            <a:spLocks noGrp="1"/>
          </p:cNvSpPr>
          <p:nvPr/>
        </p:nvSpPr>
        <p:spPr>
          <a:xfrm>
            <a:off x="9315450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4F78EAC-BFA8-4D18-A7B0-04C6ECC7A500}"/>
              </a:ext>
            </a:extLst>
          </p:cNvPr>
          <p:cNvSpPr>
            <a:spLocks noGrp="1"/>
          </p:cNvSpPr>
          <p:nvPr/>
        </p:nvSpPr>
        <p:spPr>
          <a:xfrm>
            <a:off x="9610725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C8F34E5A-6051-4342-A781-9EF3EF6C498F}"/>
              </a:ext>
            </a:extLst>
          </p:cNvPr>
          <p:cNvSpPr>
            <a:spLocks noGrp="1"/>
          </p:cNvSpPr>
          <p:nvPr/>
        </p:nvSpPr>
        <p:spPr>
          <a:xfrm>
            <a:off x="9906000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C597A2F4-884D-44EB-ADAE-56ACEE70F998}"/>
              </a:ext>
            </a:extLst>
          </p:cNvPr>
          <p:cNvSpPr>
            <a:spLocks noGrp="1"/>
          </p:cNvSpPr>
          <p:nvPr/>
        </p:nvSpPr>
        <p:spPr>
          <a:xfrm>
            <a:off x="10201275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9494CAE-7FAE-47DF-9A69-5C58F2147DAF}"/>
              </a:ext>
            </a:extLst>
          </p:cNvPr>
          <p:cNvSpPr>
            <a:spLocks noGrp="1"/>
          </p:cNvSpPr>
          <p:nvPr/>
        </p:nvSpPr>
        <p:spPr>
          <a:xfrm>
            <a:off x="10496550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E011F398-FB87-435D-96AF-58D251ACBD63}"/>
              </a:ext>
            </a:extLst>
          </p:cNvPr>
          <p:cNvSpPr>
            <a:spLocks noGrp="1"/>
          </p:cNvSpPr>
          <p:nvPr/>
        </p:nvSpPr>
        <p:spPr>
          <a:xfrm>
            <a:off x="10791825" y="274320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EA1ABD2-E403-4F6F-8C79-ABE8875FAA8F}"/>
              </a:ext>
            </a:extLst>
          </p:cNvPr>
          <p:cNvSpPr>
            <a:spLocks noGrp="1"/>
          </p:cNvSpPr>
          <p:nvPr/>
        </p:nvSpPr>
        <p:spPr>
          <a:xfrm>
            <a:off x="8724900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C2B5467-D35F-4430-88A4-F9C3A8EF6BEB}"/>
              </a:ext>
            </a:extLst>
          </p:cNvPr>
          <p:cNvSpPr>
            <a:spLocks noGrp="1"/>
          </p:cNvSpPr>
          <p:nvPr/>
        </p:nvSpPr>
        <p:spPr>
          <a:xfrm>
            <a:off x="9020175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07A3D007-3070-46B5-8687-83FA7933C070}"/>
              </a:ext>
            </a:extLst>
          </p:cNvPr>
          <p:cNvSpPr>
            <a:spLocks noGrp="1"/>
          </p:cNvSpPr>
          <p:nvPr/>
        </p:nvSpPr>
        <p:spPr>
          <a:xfrm>
            <a:off x="9315450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DBA26FAE-B756-4D46-98C2-E9662427CEA6}"/>
              </a:ext>
            </a:extLst>
          </p:cNvPr>
          <p:cNvSpPr>
            <a:spLocks noGrp="1"/>
          </p:cNvSpPr>
          <p:nvPr/>
        </p:nvSpPr>
        <p:spPr>
          <a:xfrm>
            <a:off x="9610725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53447E5-D227-4140-985D-950A33017C9E}"/>
              </a:ext>
            </a:extLst>
          </p:cNvPr>
          <p:cNvSpPr>
            <a:spLocks noGrp="1"/>
          </p:cNvSpPr>
          <p:nvPr/>
        </p:nvSpPr>
        <p:spPr>
          <a:xfrm>
            <a:off x="9906000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3BCE03D-896E-4A28-B006-C50A447FBA26}"/>
              </a:ext>
            </a:extLst>
          </p:cNvPr>
          <p:cNvSpPr>
            <a:spLocks noGrp="1"/>
          </p:cNvSpPr>
          <p:nvPr/>
        </p:nvSpPr>
        <p:spPr>
          <a:xfrm>
            <a:off x="10201275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42FAB960-8733-4B29-BFEC-623BA464A6E2}"/>
              </a:ext>
            </a:extLst>
          </p:cNvPr>
          <p:cNvSpPr>
            <a:spLocks noGrp="1"/>
          </p:cNvSpPr>
          <p:nvPr/>
        </p:nvSpPr>
        <p:spPr>
          <a:xfrm>
            <a:off x="10496550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1F363A9-E1C0-4E41-A49A-1FC065245E60}"/>
              </a:ext>
            </a:extLst>
          </p:cNvPr>
          <p:cNvSpPr>
            <a:spLocks noGrp="1"/>
          </p:cNvSpPr>
          <p:nvPr/>
        </p:nvSpPr>
        <p:spPr>
          <a:xfrm>
            <a:off x="10791825" y="2990850"/>
            <a:ext cx="295275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E9EA5AC8-A582-4635-94A5-8ABBDF294DE3}"/>
              </a:ext>
            </a:extLst>
          </p:cNvPr>
          <p:cNvSpPr>
            <a:spLocks noGrp="1"/>
          </p:cNvSpPr>
          <p:nvPr/>
        </p:nvSpPr>
        <p:spPr>
          <a:xfrm>
            <a:off x="8724900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CD16E9EC-32DA-4689-81FA-AC9B97DFDD2B}"/>
              </a:ext>
            </a:extLst>
          </p:cNvPr>
          <p:cNvSpPr>
            <a:spLocks noGrp="1"/>
          </p:cNvSpPr>
          <p:nvPr/>
        </p:nvSpPr>
        <p:spPr>
          <a:xfrm>
            <a:off x="9020175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C0149D1D-DA9C-4AC8-B075-3972CB9B5DD4}"/>
              </a:ext>
            </a:extLst>
          </p:cNvPr>
          <p:cNvSpPr>
            <a:spLocks noGrp="1"/>
          </p:cNvSpPr>
          <p:nvPr/>
        </p:nvSpPr>
        <p:spPr>
          <a:xfrm>
            <a:off x="9315450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228D15B8-8C21-4D9C-8BBE-E2D95E48F52F}"/>
              </a:ext>
            </a:extLst>
          </p:cNvPr>
          <p:cNvSpPr>
            <a:spLocks noGrp="1"/>
          </p:cNvSpPr>
          <p:nvPr/>
        </p:nvSpPr>
        <p:spPr>
          <a:xfrm>
            <a:off x="9610725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61BEC9CA-9EA3-4557-B331-7046AF2172E9}"/>
              </a:ext>
            </a:extLst>
          </p:cNvPr>
          <p:cNvSpPr>
            <a:spLocks noGrp="1"/>
          </p:cNvSpPr>
          <p:nvPr/>
        </p:nvSpPr>
        <p:spPr>
          <a:xfrm>
            <a:off x="9906000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95C703C3-5D75-446E-B9B5-972C2D1E459D}"/>
              </a:ext>
            </a:extLst>
          </p:cNvPr>
          <p:cNvSpPr>
            <a:spLocks noGrp="1"/>
          </p:cNvSpPr>
          <p:nvPr/>
        </p:nvSpPr>
        <p:spPr>
          <a:xfrm>
            <a:off x="10201275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5A8A155C-781B-4DBF-B2A6-5760063F1267}"/>
              </a:ext>
            </a:extLst>
          </p:cNvPr>
          <p:cNvSpPr>
            <a:spLocks noGrp="1"/>
          </p:cNvSpPr>
          <p:nvPr/>
        </p:nvSpPr>
        <p:spPr>
          <a:xfrm>
            <a:off x="10496550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7918AF44-C457-41D3-AC73-41CE42CA246D}"/>
              </a:ext>
            </a:extLst>
          </p:cNvPr>
          <p:cNvSpPr>
            <a:spLocks noGrp="1"/>
          </p:cNvSpPr>
          <p:nvPr/>
        </p:nvSpPr>
        <p:spPr>
          <a:xfrm>
            <a:off x="10791825" y="3238500"/>
            <a:ext cx="295275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62FBD836-9B28-4694-B43B-D377D28DA020}"/>
              </a:ext>
            </a:extLst>
          </p:cNvPr>
          <p:cNvSpPr>
            <a:spLocks noGrp="1"/>
          </p:cNvSpPr>
          <p:nvPr/>
        </p:nvSpPr>
        <p:spPr>
          <a:xfrm>
            <a:off x="8724900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BAA4783A-D3C5-463A-909A-CAB200B1678E}"/>
              </a:ext>
            </a:extLst>
          </p:cNvPr>
          <p:cNvSpPr>
            <a:spLocks noGrp="1"/>
          </p:cNvSpPr>
          <p:nvPr/>
        </p:nvSpPr>
        <p:spPr>
          <a:xfrm>
            <a:off x="9020175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941DE76A-9A37-4B04-B486-96AC66333372}"/>
              </a:ext>
            </a:extLst>
          </p:cNvPr>
          <p:cNvSpPr>
            <a:spLocks noGrp="1"/>
          </p:cNvSpPr>
          <p:nvPr/>
        </p:nvSpPr>
        <p:spPr>
          <a:xfrm>
            <a:off x="9315450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769A2F95-746F-4041-8C14-787E44785324}"/>
              </a:ext>
            </a:extLst>
          </p:cNvPr>
          <p:cNvSpPr>
            <a:spLocks noGrp="1"/>
          </p:cNvSpPr>
          <p:nvPr/>
        </p:nvSpPr>
        <p:spPr>
          <a:xfrm>
            <a:off x="9610725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3ED11FC6-D805-4D73-839D-334365B12D3E}"/>
              </a:ext>
            </a:extLst>
          </p:cNvPr>
          <p:cNvSpPr>
            <a:spLocks noGrp="1"/>
          </p:cNvSpPr>
          <p:nvPr/>
        </p:nvSpPr>
        <p:spPr>
          <a:xfrm>
            <a:off x="9906000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2E039A18-F44A-4E91-A79C-2C7E5A987C57}"/>
              </a:ext>
            </a:extLst>
          </p:cNvPr>
          <p:cNvSpPr>
            <a:spLocks noGrp="1"/>
          </p:cNvSpPr>
          <p:nvPr/>
        </p:nvSpPr>
        <p:spPr>
          <a:xfrm>
            <a:off x="10201275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F2115DCB-CD67-4342-9C2C-492091CFD880}"/>
              </a:ext>
            </a:extLst>
          </p:cNvPr>
          <p:cNvSpPr>
            <a:spLocks noGrp="1"/>
          </p:cNvSpPr>
          <p:nvPr/>
        </p:nvSpPr>
        <p:spPr>
          <a:xfrm>
            <a:off x="10496550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83EF5457-1C79-47AA-AF70-1EB9E4987D8C}"/>
              </a:ext>
            </a:extLst>
          </p:cNvPr>
          <p:cNvSpPr>
            <a:spLocks noGrp="1"/>
          </p:cNvSpPr>
          <p:nvPr/>
        </p:nvSpPr>
        <p:spPr>
          <a:xfrm>
            <a:off x="10791825" y="348615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DED15A28-1B0C-482C-BCD8-B6F5AA8EBBED}"/>
              </a:ext>
            </a:extLst>
          </p:cNvPr>
          <p:cNvSpPr>
            <a:spLocks noGrp="1"/>
          </p:cNvSpPr>
          <p:nvPr/>
        </p:nvSpPr>
        <p:spPr>
          <a:xfrm>
            <a:off x="8724900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C617C5F3-9E27-4475-A218-5067B01324BB}"/>
              </a:ext>
            </a:extLst>
          </p:cNvPr>
          <p:cNvSpPr>
            <a:spLocks noGrp="1"/>
          </p:cNvSpPr>
          <p:nvPr/>
        </p:nvSpPr>
        <p:spPr>
          <a:xfrm>
            <a:off x="9020175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3C9E75A-1BEC-4796-B594-185D265C4F42}"/>
              </a:ext>
            </a:extLst>
          </p:cNvPr>
          <p:cNvSpPr>
            <a:spLocks noGrp="1"/>
          </p:cNvSpPr>
          <p:nvPr/>
        </p:nvSpPr>
        <p:spPr>
          <a:xfrm>
            <a:off x="9315450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7BB29F1-81A7-4531-BE8D-C3149D51D267}"/>
              </a:ext>
            </a:extLst>
          </p:cNvPr>
          <p:cNvSpPr>
            <a:spLocks noGrp="1"/>
          </p:cNvSpPr>
          <p:nvPr/>
        </p:nvSpPr>
        <p:spPr>
          <a:xfrm>
            <a:off x="9610725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184C1131-DDCF-430F-98A3-A3A55CFF7BE4}"/>
              </a:ext>
            </a:extLst>
          </p:cNvPr>
          <p:cNvSpPr>
            <a:spLocks noGrp="1"/>
          </p:cNvSpPr>
          <p:nvPr/>
        </p:nvSpPr>
        <p:spPr>
          <a:xfrm>
            <a:off x="9906000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0084FBDC-C15C-4108-BD26-9D54202C8D07}"/>
              </a:ext>
            </a:extLst>
          </p:cNvPr>
          <p:cNvSpPr>
            <a:spLocks noGrp="1"/>
          </p:cNvSpPr>
          <p:nvPr/>
        </p:nvSpPr>
        <p:spPr>
          <a:xfrm>
            <a:off x="10201275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7B1DDD98-6686-412C-AAB5-86CC083E502B}"/>
              </a:ext>
            </a:extLst>
          </p:cNvPr>
          <p:cNvSpPr>
            <a:spLocks noGrp="1"/>
          </p:cNvSpPr>
          <p:nvPr/>
        </p:nvSpPr>
        <p:spPr>
          <a:xfrm>
            <a:off x="10496550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70C740D2-CB7B-4E3F-8748-CBD62FF14A2D}"/>
              </a:ext>
            </a:extLst>
          </p:cNvPr>
          <p:cNvSpPr>
            <a:spLocks noGrp="1"/>
          </p:cNvSpPr>
          <p:nvPr/>
        </p:nvSpPr>
        <p:spPr>
          <a:xfrm>
            <a:off x="10791825" y="3733800"/>
            <a:ext cx="295275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FF8BBFDC-CE50-4631-979A-F1E838462074}"/>
              </a:ext>
            </a:extLst>
          </p:cNvPr>
          <p:cNvSpPr>
            <a:spLocks noGrp="1"/>
          </p:cNvSpPr>
          <p:nvPr/>
        </p:nvSpPr>
        <p:spPr>
          <a:xfrm>
            <a:off x="8534400" y="2533650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CLS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FCD353AC-19E9-4EE5-AC53-2CAD14E6C3AF}"/>
              </a:ext>
            </a:extLst>
          </p:cNvPr>
          <p:cNvSpPr>
            <a:spLocks noGrp="1"/>
          </p:cNvSpPr>
          <p:nvPr/>
        </p:nvSpPr>
        <p:spPr>
          <a:xfrm>
            <a:off x="8543925" y="2781300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ball</a:t>
            </a: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84A4832-4509-47D4-9D34-3680BA9B2623}"/>
              </a:ext>
            </a:extLst>
          </p:cNvPr>
          <p:cNvSpPr>
            <a:spLocks noGrp="1"/>
          </p:cNvSpPr>
          <p:nvPr/>
        </p:nvSpPr>
        <p:spPr>
          <a:xfrm>
            <a:off x="8543925" y="3019425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ball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EFF592B-98DF-43E0-AEA7-D33CD09DB39D}"/>
              </a:ext>
            </a:extLst>
          </p:cNvPr>
          <p:cNvSpPr>
            <a:spLocks noGrp="1"/>
          </p:cNvSpPr>
          <p:nvPr/>
        </p:nvSpPr>
        <p:spPr>
          <a:xfrm>
            <a:off x="8620125" y="3267075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&lt;pad&gt;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02E1471D-3268-417C-951B-87222362AA6E}"/>
              </a:ext>
            </a:extLst>
          </p:cNvPr>
          <p:cNvSpPr>
            <a:spLocks noGrp="1"/>
          </p:cNvSpPr>
          <p:nvPr/>
        </p:nvSpPr>
        <p:spPr>
          <a:xfrm>
            <a:off x="8620125" y="3516630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pocket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B7F73375-0E87-43BF-BD67-48D0400723FB}"/>
              </a:ext>
            </a:extLst>
          </p:cNvPr>
          <p:cNvSpPr>
            <a:spLocks noGrp="1"/>
          </p:cNvSpPr>
          <p:nvPr/>
        </p:nvSpPr>
        <p:spPr>
          <a:xfrm>
            <a:off x="8620125" y="3752850"/>
            <a:ext cx="5143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pocket</a:t>
            </a: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3740FA9A-E686-4886-A060-E66034BEC510}"/>
              </a:ext>
            </a:extLst>
          </p:cNvPr>
          <p:cNvSpPr>
            <a:spLocks noGrp="1"/>
          </p:cNvSpPr>
          <p:nvPr/>
        </p:nvSpPr>
        <p:spPr>
          <a:xfrm>
            <a:off x="8820150" y="4114800"/>
            <a:ext cx="2247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B7083"/>
                </a:solidFill>
              </a:defRPr>
            </a:pPr>
            <a:r>
              <a:rPr sz="975" b="0">
                <a:solidFill>
                  <a:srgbClr val="5B7083"/>
                </a:solidFill>
              </a:rPr>
              <a:t>packed token matrix + attention mask</a:t>
            </a:r>
          </a:p>
        </p:txBody>
      </p:sp>
      <p:sp>
        <p:nvSpPr>
          <p:cNvPr id="136" name="矩形: 圆角 135">
            <a:extLst>
              <a:ext uri="{FF2B5EF4-FFF2-40B4-BE49-F238E27FC236}">
                <a16:creationId xmlns:a16="http://schemas.microsoft.com/office/drawing/2014/main" id="{CF33B0FC-6840-4E3B-923E-7155A6D1D0CF}"/>
              </a:ext>
            </a:extLst>
          </p:cNvPr>
          <p:cNvSpPr>
            <a:spLocks noGrp="1"/>
          </p:cNvSpPr>
          <p:nvPr/>
        </p:nvSpPr>
        <p:spPr>
          <a:xfrm>
            <a:off x="8686800" y="4476750"/>
            <a:ext cx="742950" cy="3048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94C31677-5AE8-4E67-9CF0-FCEDFF9D879C}"/>
              </a:ext>
            </a:extLst>
          </p:cNvPr>
          <p:cNvSpPr>
            <a:spLocks noGrp="1"/>
          </p:cNvSpPr>
          <p:nvPr/>
        </p:nvSpPr>
        <p:spPr>
          <a:xfrm>
            <a:off x="8686800" y="4533900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sz="1050" b="1">
                <a:solidFill>
                  <a:srgbClr val="007FC4"/>
                </a:solidFill>
              </a:rPr>
              <a:t>x_norm</a:t>
            </a:r>
          </a:p>
        </p:txBody>
      </p:sp>
      <p:sp>
        <p:nvSpPr>
          <p:cNvPr id="138" name="矩形: 圆角 137">
            <a:extLst>
              <a:ext uri="{FF2B5EF4-FFF2-40B4-BE49-F238E27FC236}">
                <a16:creationId xmlns:a16="http://schemas.microsoft.com/office/drawing/2014/main" id="{8994DCD4-0988-4312-B862-B77C6F59937C}"/>
              </a:ext>
            </a:extLst>
          </p:cNvPr>
          <p:cNvSpPr>
            <a:spLocks noGrp="1"/>
          </p:cNvSpPr>
          <p:nvPr/>
        </p:nvSpPr>
        <p:spPr>
          <a:xfrm>
            <a:off x="9505950" y="4476750"/>
            <a:ext cx="742950" cy="3048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06BF2349-D3D7-44EE-BD57-D2B964CDC8F7}"/>
              </a:ext>
            </a:extLst>
          </p:cNvPr>
          <p:cNvSpPr>
            <a:spLocks noGrp="1"/>
          </p:cNvSpPr>
          <p:nvPr/>
        </p:nvSpPr>
        <p:spPr>
          <a:xfrm>
            <a:off x="9505950" y="4533900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sz="1050" b="1">
                <a:solidFill>
                  <a:srgbClr val="007FC4"/>
                </a:solidFill>
              </a:rPr>
              <a:t>y_norm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107462D4-FCDE-4645-904F-4B7DFD4C0106}"/>
              </a:ext>
            </a:extLst>
          </p:cNvPr>
          <p:cNvSpPr>
            <a:spLocks noGrp="1"/>
          </p:cNvSpPr>
          <p:nvPr/>
        </p:nvSpPr>
        <p:spPr>
          <a:xfrm>
            <a:off x="10325100" y="4476750"/>
            <a:ext cx="742950" cy="304800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 w="9525">
            <a:solidFill>
              <a:srgbClr val="EAFB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C518187A-5B38-4416-9BB2-05DBD61D983E}"/>
              </a:ext>
            </a:extLst>
          </p:cNvPr>
          <p:cNvSpPr>
            <a:spLocks noGrp="1"/>
          </p:cNvSpPr>
          <p:nvPr/>
        </p:nvSpPr>
        <p:spPr>
          <a:xfrm>
            <a:off x="10325100" y="4533900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0C29F"/>
                </a:solidFill>
              </a:defRPr>
            </a:pPr>
            <a:r>
              <a:rPr sz="1050" b="1">
                <a:solidFill>
                  <a:srgbClr val="20C29F"/>
                </a:solidFill>
              </a:rPr>
              <a:t>exists</a:t>
            </a:r>
          </a:p>
        </p:txBody>
      </p:sp>
      <p:sp>
        <p:nvSpPr>
          <p:cNvPr id="142" name="矩形: 圆角 141">
            <a:extLst>
              <a:ext uri="{FF2B5EF4-FFF2-40B4-BE49-F238E27FC236}">
                <a16:creationId xmlns:a16="http://schemas.microsoft.com/office/drawing/2014/main" id="{71DBF09E-1637-407F-9A4F-368FE16F0A95}"/>
              </a:ext>
            </a:extLst>
          </p:cNvPr>
          <p:cNvSpPr>
            <a:spLocks noGrp="1"/>
          </p:cNvSpPr>
          <p:nvPr/>
        </p:nvSpPr>
        <p:spPr>
          <a:xfrm>
            <a:off x="9086850" y="4838700"/>
            <a:ext cx="1333500" cy="304800"/>
          </a:xfrm>
          <a:prstGeom prst="roundRect">
            <a:avLst>
              <a:gd name="adj" fmla="val 50000"/>
            </a:avLst>
          </a:prstGeom>
          <a:solidFill>
            <a:srgbClr val="FFF7DB"/>
          </a:solidFill>
          <a:ln w="9525">
            <a:solidFill>
              <a:srgbClr val="FFF7D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5B1AC791-7F6D-4C14-A077-96957E5016EE}"/>
              </a:ext>
            </a:extLst>
          </p:cNvPr>
          <p:cNvSpPr>
            <a:spLocks noGrp="1"/>
          </p:cNvSpPr>
          <p:nvPr/>
        </p:nvSpPr>
        <p:spPr>
          <a:xfrm>
            <a:off x="9086850" y="4895850"/>
            <a:ext cx="1333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8A6500"/>
                </a:solidFill>
              </a:defRPr>
            </a:pPr>
            <a:r>
              <a:rPr sz="1050" b="1">
                <a:solidFill>
                  <a:srgbClr val="8A6500"/>
                </a:solidFill>
              </a:rPr>
              <a:t>ball_id / pocket</a:t>
            </a:r>
          </a:p>
        </p:txBody>
      </p:sp>
      <p:sp>
        <p:nvSpPr>
          <p:cNvPr id="144" name="矩形: 圆角 143">
            <a:extLst>
              <a:ext uri="{FF2B5EF4-FFF2-40B4-BE49-F238E27FC236}">
                <a16:creationId xmlns:a16="http://schemas.microsoft.com/office/drawing/2014/main" id="{3218F05E-C93E-4070-A6E1-9B0385ACC7DA}"/>
              </a:ext>
            </a:extLst>
          </p:cNvPr>
          <p:cNvSpPr>
            <a:spLocks noGrp="1"/>
          </p:cNvSpPr>
          <p:nvPr/>
        </p:nvSpPr>
        <p:spPr>
          <a:xfrm>
            <a:off x="781050" y="561975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7731D477-7914-47C0-A9DA-9C9913B429F9}"/>
              </a:ext>
            </a:extLst>
          </p:cNvPr>
          <p:cNvSpPr>
            <a:spLocks noGrp="1"/>
          </p:cNvSpPr>
          <p:nvPr/>
        </p:nvSpPr>
        <p:spPr>
          <a:xfrm>
            <a:off x="781050" y="5676900"/>
            <a:ext cx="1104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sz="1050" b="1">
                <a:solidFill>
                  <a:srgbClr val="007FC4"/>
                </a:solidFill>
              </a:rPr>
              <a:t>1,940 layouts</a:t>
            </a:r>
          </a:p>
        </p:txBody>
      </p:sp>
      <p:sp>
        <p:nvSpPr>
          <p:cNvPr id="146" name="矩形: 圆角 145">
            <a:extLst>
              <a:ext uri="{FF2B5EF4-FFF2-40B4-BE49-F238E27FC236}">
                <a16:creationId xmlns:a16="http://schemas.microsoft.com/office/drawing/2014/main" id="{76CEC735-82A5-4862-BCE7-FC4AFF7BE40B}"/>
              </a:ext>
            </a:extLst>
          </p:cNvPr>
          <p:cNvSpPr>
            <a:spLocks noGrp="1"/>
          </p:cNvSpPr>
          <p:nvPr/>
        </p:nvSpPr>
        <p:spPr>
          <a:xfrm>
            <a:off x="2038350" y="5619750"/>
            <a:ext cx="97155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8B5FF2B1-F58F-4FBD-A476-3C862B25B6FA}"/>
              </a:ext>
            </a:extLst>
          </p:cNvPr>
          <p:cNvSpPr>
            <a:spLocks noGrp="1"/>
          </p:cNvSpPr>
          <p:nvPr/>
        </p:nvSpPr>
        <p:spPr>
          <a:xfrm>
            <a:off x="2038350" y="5676900"/>
            <a:ext cx="971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0C29F"/>
                </a:solidFill>
              </a:defRPr>
            </a:pPr>
            <a:r>
              <a:rPr sz="1050" b="1">
                <a:solidFill>
                  <a:srgbClr val="20C29F"/>
                </a:solidFill>
              </a:rPr>
              <a:t>776 train</a:t>
            </a:r>
          </a:p>
        </p:txBody>
      </p:sp>
      <p:sp>
        <p:nvSpPr>
          <p:cNvPr id="148" name="矩形: 圆角 147">
            <a:extLst>
              <a:ext uri="{FF2B5EF4-FFF2-40B4-BE49-F238E27FC236}">
                <a16:creationId xmlns:a16="http://schemas.microsoft.com/office/drawing/2014/main" id="{355F4ACF-9559-4575-969D-83FE19B281AF}"/>
              </a:ext>
            </a:extLst>
          </p:cNvPr>
          <p:cNvSpPr>
            <a:spLocks noGrp="1"/>
          </p:cNvSpPr>
          <p:nvPr/>
        </p:nvSpPr>
        <p:spPr>
          <a:xfrm>
            <a:off x="3162300" y="5619750"/>
            <a:ext cx="10668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2FEED7A5-F6CB-48ED-92DB-C07542BAA978}"/>
              </a:ext>
            </a:extLst>
          </p:cNvPr>
          <p:cNvSpPr>
            <a:spLocks noGrp="1"/>
          </p:cNvSpPr>
          <p:nvPr/>
        </p:nvSpPr>
        <p:spPr>
          <a:xfrm>
            <a:off x="3162300" y="56769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8A6500"/>
                </a:solidFill>
              </a:defRPr>
            </a:pPr>
            <a:r>
              <a:rPr sz="1050" b="1">
                <a:solidFill>
                  <a:srgbClr val="8A6500"/>
                </a:solidFill>
              </a:rPr>
              <a:t>1,164 test</a:t>
            </a:r>
          </a:p>
        </p:txBody>
      </p:sp>
    </p:spTree>
    <p:extLst>
      <p:ext uri="{BB962C8B-B14F-4D97-AF65-F5344CB8AC3E}">
        <p14:creationId xmlns:p14="http://schemas.microsoft.com/office/powerpoint/2010/main" val="1435700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8B231E7E-F76D-400D-BAD2-2907613EA379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D32405-F636-4588-A698-E9F7709D6B09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AF0B13D-B35A-42BF-8105-5DC8FCBC39FB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5733FE-C9A1-4858-94D5-B4449E6E37C9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3A8B08-9A47-4C77-AFD5-CCA5F6D1189D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4800E54-856D-47EE-B8D6-C52B35CEA2C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BLFormer changes both representation and supervision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989ED2-D08D-4428-88AE-F965BAF6D6B4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81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>
                <a:solidFill>
                  <a:srgbClr val="5B7083"/>
                </a:solidFill>
              </a:rPr>
              <a:t>It is built around scene structure and label coupling rather than generic token processing.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BF3C404-C2A5-4E15-A818-1CB76E87D6F5}"/>
              </a:ext>
            </a:extLst>
          </p:cNvPr>
          <p:cNvSpPr>
            <a:spLocks noGrp="1"/>
          </p:cNvSpPr>
          <p:nvPr/>
        </p:nvSpPr>
        <p:spPr>
          <a:xfrm>
            <a:off x="685800" y="2420427"/>
            <a:ext cx="3067050" cy="1857375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048524-446D-4996-9B48-87E89FCCE844}"/>
              </a:ext>
            </a:extLst>
          </p:cNvPr>
          <p:cNvSpPr>
            <a:spLocks noGrp="1"/>
          </p:cNvSpPr>
          <p:nvPr/>
        </p:nvSpPr>
        <p:spPr>
          <a:xfrm>
            <a:off x="857250" y="2591878"/>
            <a:ext cx="57150" cy="285750"/>
          </a:xfrm>
          <a:prstGeom prst="rect">
            <a:avLst/>
          </a:prstGeom>
          <a:solidFill>
            <a:srgbClr val="AAB8B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BA8F76-5467-48F7-AD39-431CB3CF76E8}"/>
              </a:ext>
            </a:extLst>
          </p:cNvPr>
          <p:cNvSpPr>
            <a:spLocks noGrp="1"/>
          </p:cNvSpPr>
          <p:nvPr/>
        </p:nvSpPr>
        <p:spPr>
          <a:xfrm>
            <a:off x="1028700" y="2572828"/>
            <a:ext cx="2552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Where baselines stall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4C9EC57-75DD-4105-8249-563B2E04C0E8}"/>
              </a:ext>
            </a:extLst>
          </p:cNvPr>
          <p:cNvSpPr>
            <a:spLocks noGrp="1"/>
          </p:cNvSpPr>
          <p:nvPr/>
        </p:nvSpPr>
        <p:spPr>
          <a:xfrm>
            <a:off x="876300" y="2915728"/>
            <a:ext cx="2686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BLCNN treats layout tokens like a local convolutional sequence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MLP discards spatial interactions after flattening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Vanilla Transformer has no billiards-specific geometry bias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B6EE935-33D1-43EF-A04C-692A31EB4FC1}"/>
              </a:ext>
            </a:extLst>
          </p:cNvPr>
          <p:cNvSpPr>
            <a:spLocks noGrp="1"/>
          </p:cNvSpPr>
          <p:nvPr/>
        </p:nvSpPr>
        <p:spPr>
          <a:xfrm>
            <a:off x="4229100" y="1740450"/>
            <a:ext cx="7086600" cy="792000"/>
          </a:xfrm>
          <a:prstGeom prst="roundRect">
            <a:avLst>
              <a:gd name="adj" fmla="val 21622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4787EDE-F333-4FA1-B19B-74AF3AE306E2}"/>
              </a:ext>
            </a:extLst>
          </p:cNvPr>
          <p:cNvSpPr>
            <a:spLocks noGrp="1"/>
          </p:cNvSpPr>
          <p:nvPr/>
        </p:nvSpPr>
        <p:spPr>
          <a:xfrm>
            <a:off x="4438650" y="1854750"/>
            <a:ext cx="419100" cy="419100"/>
          </a:xfrm>
          <a:prstGeom prst="ellipse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E77D31D-F3A5-4121-85F3-D95ED3B7A91E}"/>
              </a:ext>
            </a:extLst>
          </p:cNvPr>
          <p:cNvSpPr>
            <a:spLocks noGrp="1"/>
          </p:cNvSpPr>
          <p:nvPr/>
        </p:nvSpPr>
        <p:spPr>
          <a:xfrm>
            <a:off x="4533900" y="1940475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4DC13D-947C-4CE4-8C3C-D20CE7E3D8A6}"/>
              </a:ext>
            </a:extLst>
          </p:cNvPr>
          <p:cNvSpPr>
            <a:spLocks noGrp="1"/>
          </p:cNvSpPr>
          <p:nvPr/>
        </p:nvSpPr>
        <p:spPr>
          <a:xfrm>
            <a:off x="5029200" y="1816650"/>
            <a:ext cx="5886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Tokenize only what matters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E285095-8DFD-45A3-8B75-87BA849BAB2E}"/>
              </a:ext>
            </a:extLst>
          </p:cNvPr>
          <p:cNvSpPr>
            <a:spLocks noGrp="1"/>
          </p:cNvSpPr>
          <p:nvPr/>
        </p:nvSpPr>
        <p:spPr>
          <a:xfrm>
            <a:off x="5029200" y="206430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B7083"/>
                </a:solidFill>
              </a:defRPr>
            </a:pPr>
            <a:r>
              <a:rPr sz="1200" b="0" dirty="0">
                <a:solidFill>
                  <a:srgbClr val="5B7083"/>
                </a:solidFill>
              </a:rPr>
              <a:t>Active balls become variable-size tokens, six pockets are appended, and padding is masked away.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6FFFF58-F612-4E96-ABAD-B3AA034B3524}"/>
              </a:ext>
            </a:extLst>
          </p:cNvPr>
          <p:cNvSpPr>
            <a:spLocks noGrp="1"/>
          </p:cNvSpPr>
          <p:nvPr/>
        </p:nvSpPr>
        <p:spPr>
          <a:xfrm>
            <a:off x="4229100" y="2654850"/>
            <a:ext cx="7086600" cy="792000"/>
          </a:xfrm>
          <a:prstGeom prst="roundRect">
            <a:avLst>
              <a:gd name="adj" fmla="val 21622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64E3C92-B5C2-48AA-AAA5-8A08DD217A5C}"/>
              </a:ext>
            </a:extLst>
          </p:cNvPr>
          <p:cNvSpPr>
            <a:spLocks noGrp="1"/>
          </p:cNvSpPr>
          <p:nvPr/>
        </p:nvSpPr>
        <p:spPr>
          <a:xfrm>
            <a:off x="4438650" y="2788200"/>
            <a:ext cx="419100" cy="419100"/>
          </a:xfrm>
          <a:prstGeom prst="ellipse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E4903F-B8D6-472C-9A5F-7F19AFD92DB8}"/>
              </a:ext>
            </a:extLst>
          </p:cNvPr>
          <p:cNvSpPr>
            <a:spLocks noGrp="1"/>
          </p:cNvSpPr>
          <p:nvPr/>
        </p:nvSpPr>
        <p:spPr>
          <a:xfrm>
            <a:off x="4533900" y="2873925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DA5F8FF-4601-4960-A7A0-64074E6791C9}"/>
              </a:ext>
            </a:extLst>
          </p:cNvPr>
          <p:cNvSpPr>
            <a:spLocks noGrp="1"/>
          </p:cNvSpPr>
          <p:nvPr/>
        </p:nvSpPr>
        <p:spPr>
          <a:xfrm>
            <a:off x="5029200" y="2750100"/>
            <a:ext cx="5886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Inject geometry into attention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5122D59-DACA-4CAD-88E8-E26507A52B47}"/>
              </a:ext>
            </a:extLst>
          </p:cNvPr>
          <p:cNvSpPr>
            <a:spLocks noGrp="1"/>
          </p:cNvSpPr>
          <p:nvPr/>
        </p:nvSpPr>
        <p:spPr>
          <a:xfrm>
            <a:off x="5029200" y="299775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B7083"/>
                </a:solidFill>
              </a:defRPr>
            </a:pPr>
            <a:r>
              <a:rPr sz="1200" b="0">
                <a:solidFill>
                  <a:srgbClr val="5B7083"/>
                </a:solidFill>
              </a:rPr>
              <a:t>Pairwise distance, dx, dy, angle, blocked path, and edge type become additive attention bias.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15D3506-703B-4261-98AC-C9D990979DCA}"/>
              </a:ext>
            </a:extLst>
          </p:cNvPr>
          <p:cNvSpPr>
            <a:spLocks noGrp="1"/>
          </p:cNvSpPr>
          <p:nvPr/>
        </p:nvSpPr>
        <p:spPr>
          <a:xfrm>
            <a:off x="4229100" y="3569250"/>
            <a:ext cx="7086600" cy="792000"/>
          </a:xfrm>
          <a:prstGeom prst="roundRect">
            <a:avLst>
              <a:gd name="adj" fmla="val 21622"/>
            </a:avLst>
          </a:prstGeom>
          <a:solidFill>
            <a:srgbClr val="FFF7DB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9FAEFA3B-47BB-413A-8260-755369B0BE90}"/>
              </a:ext>
            </a:extLst>
          </p:cNvPr>
          <p:cNvSpPr>
            <a:spLocks noGrp="1"/>
          </p:cNvSpPr>
          <p:nvPr/>
        </p:nvSpPr>
        <p:spPr>
          <a:xfrm>
            <a:off x="4438650" y="3702600"/>
            <a:ext cx="419100" cy="419100"/>
          </a:xfrm>
          <a:prstGeom prst="ellipse">
            <a:avLst/>
          </a:prstGeom>
          <a:solidFill>
            <a:srgbClr val="8A650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557A18C-F17E-4798-8308-4CE30900B668}"/>
              </a:ext>
            </a:extLst>
          </p:cNvPr>
          <p:cNvSpPr>
            <a:spLocks noGrp="1"/>
          </p:cNvSpPr>
          <p:nvPr/>
        </p:nvSpPr>
        <p:spPr>
          <a:xfrm>
            <a:off x="4533900" y="3788325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43A458-1DD6-44FE-AD16-952459F32257}"/>
              </a:ext>
            </a:extLst>
          </p:cNvPr>
          <p:cNvSpPr>
            <a:spLocks noGrp="1"/>
          </p:cNvSpPr>
          <p:nvPr/>
        </p:nvSpPr>
        <p:spPr>
          <a:xfrm>
            <a:off x="5029200" y="3664500"/>
            <a:ext cx="5886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Pool the whole layout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5F01C61-DC72-4B5C-8836-CE9232FD9E4C}"/>
              </a:ext>
            </a:extLst>
          </p:cNvPr>
          <p:cNvSpPr>
            <a:spLocks noGrp="1"/>
          </p:cNvSpPr>
          <p:nvPr/>
        </p:nvSpPr>
        <p:spPr>
          <a:xfrm>
            <a:off x="5029200" y="391215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B7083"/>
                </a:solidFill>
              </a:defRPr>
            </a:pPr>
            <a:r>
              <a:rPr sz="1200" b="0">
                <a:solidFill>
                  <a:srgbClr val="5B7083"/>
                </a:solidFill>
              </a:rPr>
              <a:t>A CLS token is combined with the mean over valid tokens to reduce dependence on one summary slot.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BD7F247-2407-4ACF-A555-87BCCD3E30DC}"/>
              </a:ext>
            </a:extLst>
          </p:cNvPr>
          <p:cNvSpPr>
            <a:spLocks noGrp="1"/>
          </p:cNvSpPr>
          <p:nvPr/>
        </p:nvSpPr>
        <p:spPr>
          <a:xfrm>
            <a:off x="4229100" y="4499850"/>
            <a:ext cx="7086600" cy="792000"/>
          </a:xfrm>
          <a:prstGeom prst="roundRect">
            <a:avLst>
              <a:gd name="adj" fmla="val 21622"/>
            </a:avLst>
          </a:prstGeom>
          <a:solidFill>
            <a:srgbClr val="FDF0EA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CBA52A9-AB6C-4082-9E95-1DD66EE2C020}"/>
              </a:ext>
            </a:extLst>
          </p:cNvPr>
          <p:cNvSpPr>
            <a:spLocks noGrp="1"/>
          </p:cNvSpPr>
          <p:nvPr/>
        </p:nvSpPr>
        <p:spPr>
          <a:xfrm>
            <a:off x="4438650" y="4633200"/>
            <a:ext cx="419100" cy="419100"/>
          </a:xfrm>
          <a:prstGeom prst="ellipse">
            <a:avLst/>
          </a:prstGeom>
          <a:solidFill>
            <a:srgbClr val="EC6F4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87F17F5-C6DF-4160-B6F5-FDAA5331EEB7}"/>
              </a:ext>
            </a:extLst>
          </p:cNvPr>
          <p:cNvSpPr>
            <a:spLocks noGrp="1"/>
          </p:cNvSpPr>
          <p:nvPr/>
        </p:nvSpPr>
        <p:spPr>
          <a:xfrm>
            <a:off x="4533900" y="4718925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BD58560-0FE1-47A3-9C6D-9E0C166D60D9}"/>
              </a:ext>
            </a:extLst>
          </p:cNvPr>
          <p:cNvSpPr>
            <a:spLocks noGrp="1"/>
          </p:cNvSpPr>
          <p:nvPr/>
        </p:nvSpPr>
        <p:spPr>
          <a:xfrm>
            <a:off x="5029200" y="4595100"/>
            <a:ext cx="5886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Predict a joint outcome state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0B37643-B114-471A-AB37-527149817FDA}"/>
              </a:ext>
            </a:extLst>
          </p:cNvPr>
          <p:cNvSpPr>
            <a:spLocks noGrp="1"/>
          </p:cNvSpPr>
          <p:nvPr/>
        </p:nvSpPr>
        <p:spPr>
          <a:xfrm>
            <a:off x="5029200" y="484275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B7083"/>
                </a:solidFill>
              </a:defRPr>
            </a:pPr>
            <a:r>
              <a:rPr sz="1200" b="0">
                <a:solidFill>
                  <a:srgbClr val="5B7083"/>
                </a:solidFill>
              </a:rPr>
              <a:t>A 40-state head models clear, win, and potted count together, then recovers three marginals.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A165863-55FE-4FF8-AE2A-7321DAEF6BB2}"/>
              </a:ext>
            </a:extLst>
          </p:cNvPr>
          <p:cNvSpPr>
            <a:spLocks noGrp="1"/>
          </p:cNvSpPr>
          <p:nvPr/>
        </p:nvSpPr>
        <p:spPr>
          <a:xfrm>
            <a:off x="781050" y="5638800"/>
            <a:ext cx="1066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02A43"/>
                </a:solidFill>
              </a:defRPr>
            </a:pPr>
            <a:r>
              <a:rPr sz="1275" b="0">
                <a:solidFill>
                  <a:srgbClr val="102A43"/>
                </a:solidFill>
              </a:rPr>
              <a:t>Selected configuration: 2 encoder layers, 4 heads, d_model 80, FFN 160, dropout 0.1, CLS+mean pooling, auxiliary joint supervision.</a:t>
            </a:r>
          </a:p>
        </p:txBody>
      </p:sp>
    </p:spTree>
    <p:extLst>
      <p:ext uri="{BB962C8B-B14F-4D97-AF65-F5344CB8AC3E}">
        <p14:creationId xmlns:p14="http://schemas.microsoft.com/office/powerpoint/2010/main" val="1005360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矩形 164">
            <a:extLst>
              <a:ext uri="{FF2B5EF4-FFF2-40B4-BE49-F238E27FC236}">
                <a16:creationId xmlns:a16="http://schemas.microsoft.com/office/drawing/2014/main" id="{B2D37770-2697-4B63-9DD2-E9D95BD4C90B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C0AE7C5-C5CE-44A8-B502-893DFCF14EDE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C4C9F53-C9E2-4AEF-8065-135832E6BD58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ADE0DB-441D-4BF0-86D3-3B20F2E0ED74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0C081CD-67B1-4BBC-8092-2184F8FF3ACF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36F645-A33A-4077-9F9C-0DA4A88535E4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BLFormer: tokens + pair geometry -&gt; joint head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84DB7E-B080-480E-91AB-4710EC1560F9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81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>
                <a:solidFill>
                  <a:srgbClr val="5B7083"/>
                </a:solidFill>
              </a:rPr>
              <a:t>Embedding, bias MLP, 2 encoder layers, CLS/mean pooling, and a 40-way output.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7A16B51-DB1A-4FCB-926C-0A614C380373}"/>
              </a:ext>
            </a:extLst>
          </p:cNvPr>
          <p:cNvSpPr>
            <a:spLocks noGrp="1"/>
          </p:cNvSpPr>
          <p:nvPr/>
        </p:nvSpPr>
        <p:spPr>
          <a:xfrm>
            <a:off x="647700" y="1628775"/>
            <a:ext cx="10896600" cy="3981450"/>
          </a:xfrm>
          <a:prstGeom prst="roundRect">
            <a:avLst>
              <a:gd name="adj" fmla="val 3828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947C2B5-CFA5-4B10-8BCB-A8D61FE1A287}"/>
              </a:ext>
            </a:extLst>
          </p:cNvPr>
          <p:cNvSpPr>
            <a:spLocks noGrp="1"/>
          </p:cNvSpPr>
          <p:nvPr/>
        </p:nvSpPr>
        <p:spPr>
          <a:xfrm>
            <a:off x="914400" y="2495550"/>
            <a:ext cx="1143000" cy="2019300"/>
          </a:xfrm>
          <a:prstGeom prst="roundRect">
            <a:avLst>
              <a:gd name="adj" fmla="val 11667"/>
            </a:avLst>
          </a:prstGeom>
          <a:solidFill>
            <a:srgbClr val="6A7B00"/>
          </a:solidFill>
          <a:ln w="11430">
            <a:solidFill>
              <a:srgbClr val="56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4EB1290-B271-4C1E-B458-A926362E5945}"/>
              </a:ext>
            </a:extLst>
          </p:cNvPr>
          <p:cNvSpPr>
            <a:spLocks noGrp="1"/>
          </p:cNvSpPr>
          <p:nvPr/>
        </p:nvSpPr>
        <p:spPr>
          <a:xfrm>
            <a:off x="1028700" y="2609850"/>
            <a:ext cx="914400" cy="1790700"/>
          </a:xfrm>
          <a:prstGeom prst="roundRect">
            <a:avLst>
              <a:gd name="adj" fmla="val 11458"/>
            </a:avLst>
          </a:prstGeom>
          <a:solidFill>
            <a:srgbClr val="0B9150"/>
          </a:solidFill>
          <a:ln w="9525">
            <a:solidFill>
              <a:srgbClr val="0B915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30E9114-2130-4AC0-8A59-DBEF58C870E0}"/>
              </a:ext>
            </a:extLst>
          </p:cNvPr>
          <p:cNvSpPr>
            <a:spLocks noGrp="1"/>
          </p:cNvSpPr>
          <p:nvPr/>
        </p:nvSpPr>
        <p:spPr>
          <a:xfrm>
            <a:off x="1143000" y="2686050"/>
            <a:ext cx="685800" cy="16383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767AA06D-94EF-4659-A65E-5EDCFAA56876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CEBFFE9-F12D-4763-97F8-C8D11829B87B}"/>
              </a:ext>
            </a:extLst>
          </p:cNvPr>
          <p:cNvSpPr>
            <a:spLocks noGrp="1"/>
          </p:cNvSpPr>
          <p:nvPr/>
        </p:nvSpPr>
        <p:spPr>
          <a:xfrm>
            <a:off x="1809750" y="257175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F9E127B0-6A10-4845-BE21-4B39CE6F8134}"/>
              </a:ext>
            </a:extLst>
          </p:cNvPr>
          <p:cNvSpPr>
            <a:spLocks noGrp="1"/>
          </p:cNvSpPr>
          <p:nvPr/>
        </p:nvSpPr>
        <p:spPr>
          <a:xfrm>
            <a:off x="990600" y="3419475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1F185D0-A8E6-48E8-94CF-3397CB97F206}"/>
              </a:ext>
            </a:extLst>
          </p:cNvPr>
          <p:cNvSpPr>
            <a:spLocks noGrp="1"/>
          </p:cNvSpPr>
          <p:nvPr/>
        </p:nvSpPr>
        <p:spPr>
          <a:xfrm>
            <a:off x="1809750" y="3419475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E7CD6D3-5E02-458B-8838-9ED98BE0095A}"/>
              </a:ext>
            </a:extLst>
          </p:cNvPr>
          <p:cNvSpPr>
            <a:spLocks noGrp="1"/>
          </p:cNvSpPr>
          <p:nvPr/>
        </p:nvSpPr>
        <p:spPr>
          <a:xfrm>
            <a:off x="990600" y="42672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9031620-46F4-4713-8C29-1AB1AF330D50}"/>
              </a:ext>
            </a:extLst>
          </p:cNvPr>
          <p:cNvSpPr>
            <a:spLocks noGrp="1"/>
          </p:cNvSpPr>
          <p:nvPr/>
        </p:nvSpPr>
        <p:spPr>
          <a:xfrm>
            <a:off x="1809750" y="4267200"/>
            <a:ext cx="171450" cy="171450"/>
          </a:xfrm>
          <a:prstGeom prst="ellipse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DB8C4B0F-18C8-4765-9E89-70FA06F41312}"/>
              </a:ext>
            </a:extLst>
          </p:cNvPr>
          <p:cNvSpPr>
            <a:spLocks noGrp="1"/>
          </p:cNvSpPr>
          <p:nvPr/>
        </p:nvSpPr>
        <p:spPr>
          <a:xfrm>
            <a:off x="1200150" y="3048000"/>
            <a:ext cx="209550" cy="209550"/>
          </a:xfrm>
          <a:prstGeom prst="ellipse">
            <a:avLst/>
          </a:prstGeom>
          <a:solidFill>
            <a:srgbClr val="FFFFFF"/>
          </a:solidFill>
          <a:ln w="10478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A2A8EEB-CC6D-421A-B597-7FA7F0329E72}"/>
              </a:ext>
            </a:extLst>
          </p:cNvPr>
          <p:cNvSpPr>
            <a:spLocks noGrp="1"/>
          </p:cNvSpPr>
          <p:nvPr/>
        </p:nvSpPr>
        <p:spPr>
          <a:xfrm>
            <a:off x="1619250" y="2895600"/>
            <a:ext cx="209550" cy="209550"/>
          </a:xfrm>
          <a:prstGeom prst="ellipse">
            <a:avLst/>
          </a:prstGeom>
          <a:solidFill>
            <a:srgbClr val="F8BD01"/>
          </a:solidFill>
          <a:ln w="10478">
            <a:solidFill>
              <a:srgbClr val="8A65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7915452-3C50-4513-A38D-E3ADD9880641}"/>
              </a:ext>
            </a:extLst>
          </p:cNvPr>
          <p:cNvSpPr>
            <a:spLocks noGrp="1"/>
          </p:cNvSpPr>
          <p:nvPr/>
        </p:nvSpPr>
        <p:spPr>
          <a:xfrm>
            <a:off x="1619250" y="293370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9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699F30B-C2F4-4D29-9A31-4F1C152CCA7F}"/>
              </a:ext>
            </a:extLst>
          </p:cNvPr>
          <p:cNvSpPr>
            <a:spLocks noGrp="1"/>
          </p:cNvSpPr>
          <p:nvPr/>
        </p:nvSpPr>
        <p:spPr>
          <a:xfrm>
            <a:off x="1752600" y="3619500"/>
            <a:ext cx="209550" cy="209550"/>
          </a:xfrm>
          <a:prstGeom prst="ellipse">
            <a:avLst/>
          </a:prstGeom>
          <a:solidFill>
            <a:srgbClr val="007FC4"/>
          </a:solidFill>
          <a:ln w="10478">
            <a:solidFill>
              <a:srgbClr val="0A4D7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970F55-5E04-4BC6-9C01-05FEBA1632CE}"/>
              </a:ext>
            </a:extLst>
          </p:cNvPr>
          <p:cNvSpPr>
            <a:spLocks noGrp="1"/>
          </p:cNvSpPr>
          <p:nvPr/>
        </p:nvSpPr>
        <p:spPr>
          <a:xfrm>
            <a:off x="1752600" y="365760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6A76330-2629-44CC-9675-EF9C192029E3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09550" cy="209550"/>
          </a:xfrm>
          <a:prstGeom prst="ellipse">
            <a:avLst/>
          </a:prstGeom>
          <a:solidFill>
            <a:srgbClr val="F16B5B"/>
          </a:solidFill>
          <a:ln w="10478">
            <a:solidFill>
              <a:srgbClr val="B44A4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6951B15-EC9A-4ADB-80A5-6B484D83CFEA}"/>
              </a:ext>
            </a:extLst>
          </p:cNvPr>
          <p:cNvSpPr>
            <a:spLocks noGrp="1"/>
          </p:cNvSpPr>
          <p:nvPr/>
        </p:nvSpPr>
        <p:spPr>
          <a:xfrm>
            <a:off x="1657350" y="4210050"/>
            <a:ext cx="2095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102A43"/>
                </a:solidFill>
              </a:defRPr>
            </a:pPr>
            <a:r>
              <a:rPr sz="900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D5D86-96B3-4B65-A550-DAF862F60209}"/>
              </a:ext>
            </a:extLst>
          </p:cNvPr>
          <p:cNvSpPr>
            <a:spLocks noGrp="1"/>
          </p:cNvSpPr>
          <p:nvPr/>
        </p:nvSpPr>
        <p:spPr>
          <a:xfrm>
            <a:off x="819150" y="4629150"/>
            <a:ext cx="1333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B7083"/>
                </a:solidFill>
              </a:defRPr>
            </a:pPr>
            <a:r>
              <a:rPr sz="975" b="0">
                <a:solidFill>
                  <a:srgbClr val="5B7083"/>
                </a:solidFill>
              </a:rPr>
              <a:t>post-break layout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3C4A5114-9604-4128-9C93-2292030188CF}"/>
              </a:ext>
            </a:extLst>
          </p:cNvPr>
          <p:cNvSpPr>
            <a:spLocks noGrp="1"/>
          </p:cNvSpPr>
          <p:nvPr/>
        </p:nvSpPr>
        <p:spPr>
          <a:xfrm>
            <a:off x="2143125" y="3429000"/>
            <a:ext cx="323850" cy="19050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DEDF047-D340-477B-93BC-34078ABB88E4}"/>
              </a:ext>
            </a:extLst>
          </p:cNvPr>
          <p:cNvSpPr>
            <a:spLocks noGrp="1"/>
          </p:cNvSpPr>
          <p:nvPr/>
        </p:nvSpPr>
        <p:spPr>
          <a:xfrm>
            <a:off x="2724150" y="1733550"/>
            <a:ext cx="1714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Token construction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E41483-8AB4-44E6-A510-D44253F2AB53}"/>
              </a:ext>
            </a:extLst>
          </p:cNvPr>
          <p:cNvSpPr>
            <a:spLocks noGrp="1"/>
          </p:cNvSpPr>
          <p:nvPr/>
        </p:nvSpPr>
        <p:spPr>
          <a:xfrm>
            <a:off x="2781300" y="2076450"/>
            <a:ext cx="781050" cy="3048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1F175E6-664B-4A9B-B1A0-05473AEFCF67}"/>
              </a:ext>
            </a:extLst>
          </p:cNvPr>
          <p:cNvSpPr>
            <a:spLocks noGrp="1"/>
          </p:cNvSpPr>
          <p:nvPr/>
        </p:nvSpPr>
        <p:spPr>
          <a:xfrm>
            <a:off x="2781300" y="2133600"/>
            <a:ext cx="781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sz="1050" b="1">
                <a:solidFill>
                  <a:srgbClr val="007FC4"/>
                </a:solidFill>
              </a:rPr>
              <a:t>type id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5231F00-3BF6-42AF-A732-F5B4D6201DE2}"/>
              </a:ext>
            </a:extLst>
          </p:cNvPr>
          <p:cNvSpPr>
            <a:spLocks noGrp="1"/>
          </p:cNvSpPr>
          <p:nvPr/>
        </p:nvSpPr>
        <p:spPr>
          <a:xfrm>
            <a:off x="3638550" y="2076450"/>
            <a:ext cx="781050" cy="304800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 w="9525">
            <a:solidFill>
              <a:srgbClr val="EAFB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0A1EEB9-8EBE-4A8F-A1B5-C8229A5A8A5B}"/>
              </a:ext>
            </a:extLst>
          </p:cNvPr>
          <p:cNvSpPr>
            <a:spLocks noGrp="1"/>
          </p:cNvSpPr>
          <p:nvPr/>
        </p:nvSpPr>
        <p:spPr>
          <a:xfrm>
            <a:off x="3638550" y="2133600"/>
            <a:ext cx="781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0C29F"/>
                </a:solidFill>
              </a:defRPr>
            </a:pPr>
            <a:r>
              <a:rPr sz="1050" b="1">
                <a:solidFill>
                  <a:srgbClr val="20C29F"/>
                </a:solidFill>
              </a:rPr>
              <a:t>ball id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95271A0-2BDC-4633-95E9-A23E26F6B5F9}"/>
              </a:ext>
            </a:extLst>
          </p:cNvPr>
          <p:cNvSpPr>
            <a:spLocks noGrp="1"/>
          </p:cNvSpPr>
          <p:nvPr/>
        </p:nvSpPr>
        <p:spPr>
          <a:xfrm>
            <a:off x="4495800" y="2076450"/>
            <a:ext cx="781050" cy="304800"/>
          </a:xfrm>
          <a:prstGeom prst="roundRect">
            <a:avLst>
              <a:gd name="adj" fmla="val 50000"/>
            </a:avLst>
          </a:prstGeom>
          <a:solidFill>
            <a:srgbClr val="FFF7DB"/>
          </a:solidFill>
          <a:ln w="9525">
            <a:solidFill>
              <a:srgbClr val="FFF7D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FF77653-3202-4742-B388-78750E827A6C}"/>
              </a:ext>
            </a:extLst>
          </p:cNvPr>
          <p:cNvSpPr>
            <a:spLocks noGrp="1"/>
          </p:cNvSpPr>
          <p:nvPr/>
        </p:nvSpPr>
        <p:spPr>
          <a:xfrm>
            <a:off x="4495800" y="2133600"/>
            <a:ext cx="781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8A6500"/>
                </a:solidFill>
              </a:defRPr>
            </a:pPr>
            <a:r>
              <a:rPr sz="1050" b="1">
                <a:solidFill>
                  <a:srgbClr val="8A6500"/>
                </a:solidFill>
              </a:rPr>
              <a:t>x, y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7FF6B5C-D18F-4B28-AFDC-5F49D6CD7067}"/>
              </a:ext>
            </a:extLst>
          </p:cNvPr>
          <p:cNvSpPr>
            <a:spLocks noGrp="1"/>
          </p:cNvSpPr>
          <p:nvPr/>
        </p:nvSpPr>
        <p:spPr>
          <a:xfrm>
            <a:off x="3600450" y="2457450"/>
            <a:ext cx="85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AAB8BC"/>
                </a:solidFill>
              </a:defRPr>
            </a:pPr>
            <a:r>
              <a:rPr sz="1800" b="1">
                <a:solidFill>
                  <a:srgbClr val="AAB8BC"/>
                </a:solidFill>
              </a:rPr>
              <a:t>+   +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98EBBBD-CD03-4C92-A548-54116E88213D}"/>
              </a:ext>
            </a:extLst>
          </p:cNvPr>
          <p:cNvSpPr>
            <a:spLocks noGrp="1"/>
          </p:cNvSpPr>
          <p:nvPr/>
        </p:nvSpPr>
        <p:spPr>
          <a:xfrm>
            <a:off x="2876550" y="2781300"/>
            <a:ext cx="2305050" cy="1485900"/>
          </a:xfrm>
          <a:prstGeom prst="rect">
            <a:avLst/>
          </a:prstGeom>
          <a:solidFill>
            <a:srgbClr val="FFFFFF"/>
          </a:solidFill>
          <a:ln w="10478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5376EC4-7EE4-4870-85A7-D12F90D881BC}"/>
              </a:ext>
            </a:extLst>
          </p:cNvPr>
          <p:cNvSpPr>
            <a:spLocks noGrp="1"/>
          </p:cNvSpPr>
          <p:nvPr/>
        </p:nvSpPr>
        <p:spPr>
          <a:xfrm>
            <a:off x="2876550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6CB96F6-DDC5-49AE-B665-F008D4D70919}"/>
              </a:ext>
            </a:extLst>
          </p:cNvPr>
          <p:cNvSpPr>
            <a:spLocks noGrp="1"/>
          </p:cNvSpPr>
          <p:nvPr/>
        </p:nvSpPr>
        <p:spPr>
          <a:xfrm>
            <a:off x="3205843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9E56B56-8A35-45A7-807C-BD31D8E3FA30}"/>
              </a:ext>
            </a:extLst>
          </p:cNvPr>
          <p:cNvSpPr>
            <a:spLocks noGrp="1"/>
          </p:cNvSpPr>
          <p:nvPr/>
        </p:nvSpPr>
        <p:spPr>
          <a:xfrm>
            <a:off x="3535136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A4364E8-1116-49C5-BF30-8F3C420027D3}"/>
              </a:ext>
            </a:extLst>
          </p:cNvPr>
          <p:cNvSpPr>
            <a:spLocks noGrp="1"/>
          </p:cNvSpPr>
          <p:nvPr/>
        </p:nvSpPr>
        <p:spPr>
          <a:xfrm>
            <a:off x="3864429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C6AE4C7-AB20-40A5-9B65-DC82A453C092}"/>
              </a:ext>
            </a:extLst>
          </p:cNvPr>
          <p:cNvSpPr>
            <a:spLocks noGrp="1"/>
          </p:cNvSpPr>
          <p:nvPr/>
        </p:nvSpPr>
        <p:spPr>
          <a:xfrm>
            <a:off x="4193721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E8C1AB2-243D-4FE6-B26E-B5515D334EDE}"/>
              </a:ext>
            </a:extLst>
          </p:cNvPr>
          <p:cNvSpPr>
            <a:spLocks noGrp="1"/>
          </p:cNvSpPr>
          <p:nvPr/>
        </p:nvSpPr>
        <p:spPr>
          <a:xfrm>
            <a:off x="4523014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D978D4B-1145-4550-BC25-1F1035F411F4}"/>
              </a:ext>
            </a:extLst>
          </p:cNvPr>
          <p:cNvSpPr>
            <a:spLocks noGrp="1"/>
          </p:cNvSpPr>
          <p:nvPr/>
        </p:nvSpPr>
        <p:spPr>
          <a:xfrm>
            <a:off x="4852307" y="27813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1863880-97E9-4E61-8252-E6BB481B5501}"/>
              </a:ext>
            </a:extLst>
          </p:cNvPr>
          <p:cNvSpPr>
            <a:spLocks noGrp="1"/>
          </p:cNvSpPr>
          <p:nvPr/>
        </p:nvSpPr>
        <p:spPr>
          <a:xfrm>
            <a:off x="2876550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8B6734B-C700-4E35-AACF-BAEEF5CD2870}"/>
              </a:ext>
            </a:extLst>
          </p:cNvPr>
          <p:cNvSpPr>
            <a:spLocks noGrp="1"/>
          </p:cNvSpPr>
          <p:nvPr/>
        </p:nvSpPr>
        <p:spPr>
          <a:xfrm>
            <a:off x="3205843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B7DFD14-F93E-49E3-8BD3-E79644A7BCD3}"/>
              </a:ext>
            </a:extLst>
          </p:cNvPr>
          <p:cNvSpPr>
            <a:spLocks noGrp="1"/>
          </p:cNvSpPr>
          <p:nvPr/>
        </p:nvSpPr>
        <p:spPr>
          <a:xfrm>
            <a:off x="3535136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1D84C6-7CE7-44F7-9098-311AF2D0A1E5}"/>
              </a:ext>
            </a:extLst>
          </p:cNvPr>
          <p:cNvSpPr>
            <a:spLocks noGrp="1"/>
          </p:cNvSpPr>
          <p:nvPr/>
        </p:nvSpPr>
        <p:spPr>
          <a:xfrm>
            <a:off x="3864429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A29F275-B26A-4C54-A26B-6B9FA75AF92A}"/>
              </a:ext>
            </a:extLst>
          </p:cNvPr>
          <p:cNvSpPr>
            <a:spLocks noGrp="1"/>
          </p:cNvSpPr>
          <p:nvPr/>
        </p:nvSpPr>
        <p:spPr>
          <a:xfrm>
            <a:off x="4193721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E1D8FC3-9650-4CEF-B9EB-E8296C5E7F58}"/>
              </a:ext>
            </a:extLst>
          </p:cNvPr>
          <p:cNvSpPr>
            <a:spLocks noGrp="1"/>
          </p:cNvSpPr>
          <p:nvPr/>
        </p:nvSpPr>
        <p:spPr>
          <a:xfrm>
            <a:off x="4523014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365F099-F757-47BC-9E9B-6C00AC54904A}"/>
              </a:ext>
            </a:extLst>
          </p:cNvPr>
          <p:cNvSpPr>
            <a:spLocks noGrp="1"/>
          </p:cNvSpPr>
          <p:nvPr/>
        </p:nvSpPr>
        <p:spPr>
          <a:xfrm>
            <a:off x="4852307" y="302895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D4EE8CA-EAED-405D-9BEB-E4B021CF97D5}"/>
              </a:ext>
            </a:extLst>
          </p:cNvPr>
          <p:cNvSpPr>
            <a:spLocks noGrp="1"/>
          </p:cNvSpPr>
          <p:nvPr/>
        </p:nvSpPr>
        <p:spPr>
          <a:xfrm>
            <a:off x="2876550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7EFAD213-46B7-42E7-9D57-8270F226B8FB}"/>
              </a:ext>
            </a:extLst>
          </p:cNvPr>
          <p:cNvSpPr>
            <a:spLocks noGrp="1"/>
          </p:cNvSpPr>
          <p:nvPr/>
        </p:nvSpPr>
        <p:spPr>
          <a:xfrm>
            <a:off x="3205843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57A11AD-C0F4-4515-8A25-C7AA968BDB6B}"/>
              </a:ext>
            </a:extLst>
          </p:cNvPr>
          <p:cNvSpPr>
            <a:spLocks noGrp="1"/>
          </p:cNvSpPr>
          <p:nvPr/>
        </p:nvSpPr>
        <p:spPr>
          <a:xfrm>
            <a:off x="3535136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58201C9-9753-4B90-8CF2-28B4446F9865}"/>
              </a:ext>
            </a:extLst>
          </p:cNvPr>
          <p:cNvSpPr>
            <a:spLocks noGrp="1"/>
          </p:cNvSpPr>
          <p:nvPr/>
        </p:nvSpPr>
        <p:spPr>
          <a:xfrm>
            <a:off x="3864429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620028D-FB02-48B9-B4D9-539D77C93DEB}"/>
              </a:ext>
            </a:extLst>
          </p:cNvPr>
          <p:cNvSpPr>
            <a:spLocks noGrp="1"/>
          </p:cNvSpPr>
          <p:nvPr/>
        </p:nvSpPr>
        <p:spPr>
          <a:xfrm>
            <a:off x="4193721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65C0F81-AB87-453F-8DEB-BCB0FF7A06A2}"/>
              </a:ext>
            </a:extLst>
          </p:cNvPr>
          <p:cNvSpPr>
            <a:spLocks noGrp="1"/>
          </p:cNvSpPr>
          <p:nvPr/>
        </p:nvSpPr>
        <p:spPr>
          <a:xfrm>
            <a:off x="4523014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FB38D34-63D5-42D7-8C56-2159EB1CD9CD}"/>
              </a:ext>
            </a:extLst>
          </p:cNvPr>
          <p:cNvSpPr>
            <a:spLocks noGrp="1"/>
          </p:cNvSpPr>
          <p:nvPr/>
        </p:nvSpPr>
        <p:spPr>
          <a:xfrm>
            <a:off x="4852307" y="3276600"/>
            <a:ext cx="329293" cy="247650"/>
          </a:xfrm>
          <a:prstGeom prst="rect">
            <a:avLst/>
          </a:prstGeom>
          <a:solidFill>
            <a:srgbClr val="DCE7C8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218CD23-7C23-450A-B09F-CCFA830EE32B}"/>
              </a:ext>
            </a:extLst>
          </p:cNvPr>
          <p:cNvSpPr>
            <a:spLocks noGrp="1"/>
          </p:cNvSpPr>
          <p:nvPr/>
        </p:nvSpPr>
        <p:spPr>
          <a:xfrm>
            <a:off x="2876550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280D869-7C71-4B4B-8889-C42B09E6CA07}"/>
              </a:ext>
            </a:extLst>
          </p:cNvPr>
          <p:cNvSpPr>
            <a:spLocks noGrp="1"/>
          </p:cNvSpPr>
          <p:nvPr/>
        </p:nvSpPr>
        <p:spPr>
          <a:xfrm>
            <a:off x="3205843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DD517B7-8BF0-4BDF-8966-C302D18355BB}"/>
              </a:ext>
            </a:extLst>
          </p:cNvPr>
          <p:cNvSpPr>
            <a:spLocks noGrp="1"/>
          </p:cNvSpPr>
          <p:nvPr/>
        </p:nvSpPr>
        <p:spPr>
          <a:xfrm>
            <a:off x="3535136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7714CC3B-C29B-4792-A70D-B43D72DCE85D}"/>
              </a:ext>
            </a:extLst>
          </p:cNvPr>
          <p:cNvSpPr>
            <a:spLocks noGrp="1"/>
          </p:cNvSpPr>
          <p:nvPr/>
        </p:nvSpPr>
        <p:spPr>
          <a:xfrm>
            <a:off x="3864429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2252771C-7EE1-41B6-8BF4-30D9A90095AC}"/>
              </a:ext>
            </a:extLst>
          </p:cNvPr>
          <p:cNvSpPr>
            <a:spLocks noGrp="1"/>
          </p:cNvSpPr>
          <p:nvPr/>
        </p:nvSpPr>
        <p:spPr>
          <a:xfrm>
            <a:off x="4193721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945C15C0-DE6F-459F-87E0-BDB6EA906B4D}"/>
              </a:ext>
            </a:extLst>
          </p:cNvPr>
          <p:cNvSpPr>
            <a:spLocks noGrp="1"/>
          </p:cNvSpPr>
          <p:nvPr/>
        </p:nvSpPr>
        <p:spPr>
          <a:xfrm>
            <a:off x="4523014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3D1C0ED-0654-4D8E-BE83-3D4ACE26D34B}"/>
              </a:ext>
            </a:extLst>
          </p:cNvPr>
          <p:cNvSpPr>
            <a:spLocks noGrp="1"/>
          </p:cNvSpPr>
          <p:nvPr/>
        </p:nvSpPr>
        <p:spPr>
          <a:xfrm>
            <a:off x="4852307" y="3524250"/>
            <a:ext cx="329293" cy="247650"/>
          </a:xfrm>
          <a:prstGeom prst="rect">
            <a:avLst/>
          </a:prstGeom>
          <a:solidFill>
            <a:srgbClr val="FFFFFF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EEC7E5CC-C9B6-4930-85FA-2B574227FA9D}"/>
              </a:ext>
            </a:extLst>
          </p:cNvPr>
          <p:cNvSpPr>
            <a:spLocks noGrp="1"/>
          </p:cNvSpPr>
          <p:nvPr/>
        </p:nvSpPr>
        <p:spPr>
          <a:xfrm>
            <a:off x="2876550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E157BAD-8F86-4153-B46B-ED7EF1C4E4CF}"/>
              </a:ext>
            </a:extLst>
          </p:cNvPr>
          <p:cNvSpPr>
            <a:spLocks noGrp="1"/>
          </p:cNvSpPr>
          <p:nvPr/>
        </p:nvSpPr>
        <p:spPr>
          <a:xfrm>
            <a:off x="3205843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A73C96C-011B-4F09-B9A5-7C4483891E99}"/>
              </a:ext>
            </a:extLst>
          </p:cNvPr>
          <p:cNvSpPr>
            <a:spLocks noGrp="1"/>
          </p:cNvSpPr>
          <p:nvPr/>
        </p:nvSpPr>
        <p:spPr>
          <a:xfrm>
            <a:off x="3535136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9C02B88-20F1-48C2-BAA9-03CEE898993C}"/>
              </a:ext>
            </a:extLst>
          </p:cNvPr>
          <p:cNvSpPr>
            <a:spLocks noGrp="1"/>
          </p:cNvSpPr>
          <p:nvPr/>
        </p:nvSpPr>
        <p:spPr>
          <a:xfrm>
            <a:off x="3864429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4AE1B1E-25A3-412C-8BC4-5C28242443C6}"/>
              </a:ext>
            </a:extLst>
          </p:cNvPr>
          <p:cNvSpPr>
            <a:spLocks noGrp="1"/>
          </p:cNvSpPr>
          <p:nvPr/>
        </p:nvSpPr>
        <p:spPr>
          <a:xfrm>
            <a:off x="4193721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DC74191-31CF-42DD-9EB5-31368F6FE131}"/>
              </a:ext>
            </a:extLst>
          </p:cNvPr>
          <p:cNvSpPr>
            <a:spLocks noGrp="1"/>
          </p:cNvSpPr>
          <p:nvPr/>
        </p:nvSpPr>
        <p:spPr>
          <a:xfrm>
            <a:off x="4523014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8F5D46B-10B1-4E60-9E35-7B3F20EA3755}"/>
              </a:ext>
            </a:extLst>
          </p:cNvPr>
          <p:cNvSpPr>
            <a:spLocks noGrp="1"/>
          </p:cNvSpPr>
          <p:nvPr/>
        </p:nvSpPr>
        <p:spPr>
          <a:xfrm>
            <a:off x="4852307" y="377190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D05E84A2-9A33-4A50-93D8-0051D94D5880}"/>
              </a:ext>
            </a:extLst>
          </p:cNvPr>
          <p:cNvSpPr>
            <a:spLocks noGrp="1"/>
          </p:cNvSpPr>
          <p:nvPr/>
        </p:nvSpPr>
        <p:spPr>
          <a:xfrm>
            <a:off x="2876550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01CE8730-4596-4018-85BA-EB02B02D7E4D}"/>
              </a:ext>
            </a:extLst>
          </p:cNvPr>
          <p:cNvSpPr>
            <a:spLocks noGrp="1"/>
          </p:cNvSpPr>
          <p:nvPr/>
        </p:nvSpPr>
        <p:spPr>
          <a:xfrm>
            <a:off x="3205843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3F2A5EA2-82FA-4198-9F05-91B8D7EB18F8}"/>
              </a:ext>
            </a:extLst>
          </p:cNvPr>
          <p:cNvSpPr>
            <a:spLocks noGrp="1"/>
          </p:cNvSpPr>
          <p:nvPr/>
        </p:nvSpPr>
        <p:spPr>
          <a:xfrm>
            <a:off x="3535136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5010DF7-0C8C-431F-9D5F-B46E7CD73A52}"/>
              </a:ext>
            </a:extLst>
          </p:cNvPr>
          <p:cNvSpPr>
            <a:spLocks noGrp="1"/>
          </p:cNvSpPr>
          <p:nvPr/>
        </p:nvSpPr>
        <p:spPr>
          <a:xfrm>
            <a:off x="3864429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BB1FBB81-FFA4-4C33-B37A-78AB5F4481E6}"/>
              </a:ext>
            </a:extLst>
          </p:cNvPr>
          <p:cNvSpPr>
            <a:spLocks noGrp="1"/>
          </p:cNvSpPr>
          <p:nvPr/>
        </p:nvSpPr>
        <p:spPr>
          <a:xfrm>
            <a:off x="4193721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395529C-7E2A-41D7-8A64-BB460511EA36}"/>
              </a:ext>
            </a:extLst>
          </p:cNvPr>
          <p:cNvSpPr>
            <a:spLocks noGrp="1"/>
          </p:cNvSpPr>
          <p:nvPr/>
        </p:nvSpPr>
        <p:spPr>
          <a:xfrm>
            <a:off x="4523014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C708A38-221A-4DC6-916D-574124B95866}"/>
              </a:ext>
            </a:extLst>
          </p:cNvPr>
          <p:cNvSpPr>
            <a:spLocks noGrp="1"/>
          </p:cNvSpPr>
          <p:nvPr/>
        </p:nvSpPr>
        <p:spPr>
          <a:xfrm>
            <a:off x="4852307" y="4019550"/>
            <a:ext cx="329293" cy="247650"/>
          </a:xfrm>
          <a:prstGeom prst="rect">
            <a:avLst/>
          </a:prstGeom>
          <a:solidFill>
            <a:srgbClr val="D7E0F7"/>
          </a:solidFill>
          <a:ln w="5715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40ED05A-DEDA-495E-B745-3E43E9FFB4D0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4000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CLS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11561C9-8C52-43D9-99D4-DC1FD8EA8237}"/>
              </a:ext>
            </a:extLst>
          </p:cNvPr>
          <p:cNvSpPr>
            <a:spLocks noGrp="1"/>
          </p:cNvSpPr>
          <p:nvPr/>
        </p:nvSpPr>
        <p:spPr>
          <a:xfrm>
            <a:off x="2419350" y="3105150"/>
            <a:ext cx="4000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ball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A7BDD65-F6EA-428D-A656-347AD855CD16}"/>
              </a:ext>
            </a:extLst>
          </p:cNvPr>
          <p:cNvSpPr>
            <a:spLocks noGrp="1"/>
          </p:cNvSpPr>
          <p:nvPr/>
        </p:nvSpPr>
        <p:spPr>
          <a:xfrm>
            <a:off x="2419350" y="3352800"/>
            <a:ext cx="4000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>
                <a:solidFill>
                  <a:srgbClr val="102A43"/>
                </a:solidFill>
              </a:rPr>
              <a:t>ball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264BA95-ABB1-48B0-8105-D180DAC553D8}"/>
              </a:ext>
            </a:extLst>
          </p:cNvPr>
          <p:cNvSpPr>
            <a:spLocks noGrp="1"/>
          </p:cNvSpPr>
          <p:nvPr/>
        </p:nvSpPr>
        <p:spPr>
          <a:xfrm>
            <a:off x="2352675" y="3571875"/>
            <a:ext cx="504825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&lt;pad&gt;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A041D5C-76BD-4C16-9994-FCCBA2A86348}"/>
              </a:ext>
            </a:extLst>
          </p:cNvPr>
          <p:cNvSpPr>
            <a:spLocks noGrp="1"/>
          </p:cNvSpPr>
          <p:nvPr/>
        </p:nvSpPr>
        <p:spPr>
          <a:xfrm>
            <a:off x="2400300" y="3819525"/>
            <a:ext cx="4000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pkt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FF61C1B-0827-48D4-A603-2A4F7AAC2A05}"/>
              </a:ext>
            </a:extLst>
          </p:cNvPr>
          <p:cNvSpPr>
            <a:spLocks noGrp="1"/>
          </p:cNvSpPr>
          <p:nvPr/>
        </p:nvSpPr>
        <p:spPr>
          <a:xfrm>
            <a:off x="2400300" y="4048125"/>
            <a:ext cx="4000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102A43"/>
                </a:solidFill>
              </a:defRPr>
            </a:pPr>
            <a:r>
              <a:rPr sz="900" b="0" dirty="0">
                <a:solidFill>
                  <a:srgbClr val="102A43"/>
                </a:solidFill>
              </a:rPr>
              <a:t>pkt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50DC4A7-3FD9-49B5-987A-CC568B248C33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2000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B7083"/>
                </a:solidFill>
              </a:defRPr>
            </a:pPr>
            <a:r>
              <a:rPr sz="900" b="0">
                <a:solidFill>
                  <a:srgbClr val="5B7083"/>
                </a:solidFill>
              </a:rPr>
              <a:t>d_model = 80, variable valid-token count</a:t>
            </a:r>
          </a:p>
        </p:txBody>
      </p:sp>
      <p:sp>
        <p:nvSpPr>
          <p:cNvPr id="85" name="箭头: 右 84">
            <a:extLst>
              <a:ext uri="{FF2B5EF4-FFF2-40B4-BE49-F238E27FC236}">
                <a16:creationId xmlns:a16="http://schemas.microsoft.com/office/drawing/2014/main" id="{645FEDFB-8798-4628-BBD6-5F91CEE39381}"/>
              </a:ext>
            </a:extLst>
          </p:cNvPr>
          <p:cNvSpPr>
            <a:spLocks noGrp="1"/>
          </p:cNvSpPr>
          <p:nvPr/>
        </p:nvSpPr>
        <p:spPr>
          <a:xfrm>
            <a:off x="5314950" y="3390900"/>
            <a:ext cx="323850" cy="19050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A2A58239-884E-4274-9E65-775DF6E600B1}"/>
              </a:ext>
            </a:extLst>
          </p:cNvPr>
          <p:cNvSpPr>
            <a:spLocks noGrp="1"/>
          </p:cNvSpPr>
          <p:nvPr/>
        </p:nvSpPr>
        <p:spPr>
          <a:xfrm>
            <a:off x="5715000" y="1924050"/>
            <a:ext cx="2495550" cy="2743200"/>
          </a:xfrm>
          <a:prstGeom prst="roundRect">
            <a:avLst>
              <a:gd name="adj" fmla="val 6107"/>
            </a:avLst>
          </a:prstGeom>
          <a:solidFill>
            <a:srgbClr val="FBFD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AF20302-DF1B-4DBC-810C-B8124DFDFBE3}"/>
              </a:ext>
            </a:extLst>
          </p:cNvPr>
          <p:cNvSpPr>
            <a:spLocks noGrp="1"/>
          </p:cNvSpPr>
          <p:nvPr/>
        </p:nvSpPr>
        <p:spPr>
          <a:xfrm>
            <a:off x="5853024" y="2062162"/>
            <a:ext cx="2124255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 dirty="0" err="1">
                <a:solidFill>
                  <a:srgbClr val="102A43"/>
                </a:solidFill>
              </a:rPr>
              <a:t>BLFormer</a:t>
            </a:r>
            <a:r>
              <a:rPr sz="1350" b="1" dirty="0">
                <a:solidFill>
                  <a:srgbClr val="102A43"/>
                </a:solidFill>
              </a:rPr>
              <a:t> encoder layer x2</a:t>
            </a: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BF23948B-4E3F-4698-975A-226E043DCBC0}"/>
              </a:ext>
            </a:extLst>
          </p:cNvPr>
          <p:cNvSpPr>
            <a:spLocks noGrp="1"/>
          </p:cNvSpPr>
          <p:nvPr/>
        </p:nvSpPr>
        <p:spPr>
          <a:xfrm>
            <a:off x="6210300" y="2400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3FB3DB0-3BD8-48C8-BCB9-E40286AE580F}"/>
              </a:ext>
            </a:extLst>
          </p:cNvPr>
          <p:cNvSpPr>
            <a:spLocks noGrp="1"/>
          </p:cNvSpPr>
          <p:nvPr/>
        </p:nvSpPr>
        <p:spPr>
          <a:xfrm>
            <a:off x="6210300" y="2466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102A43"/>
                </a:solidFill>
              </a:defRPr>
            </a:pPr>
            <a:r>
              <a:rPr sz="975" b="0">
                <a:solidFill>
                  <a:srgbClr val="102A43"/>
                </a:solidFill>
              </a:rPr>
              <a:t>LayerNorm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BC979CE3-2484-42D8-B749-3373E0D9F85C}"/>
              </a:ext>
            </a:extLst>
          </p:cNvPr>
          <p:cNvSpPr>
            <a:spLocks noGrp="1"/>
          </p:cNvSpPr>
          <p:nvPr/>
        </p:nvSpPr>
        <p:spPr>
          <a:xfrm>
            <a:off x="6210300" y="2781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1B0EE3F-BE8E-4065-B6DB-095BBBD2BEE7}"/>
              </a:ext>
            </a:extLst>
          </p:cNvPr>
          <p:cNvSpPr>
            <a:spLocks noGrp="1"/>
          </p:cNvSpPr>
          <p:nvPr/>
        </p:nvSpPr>
        <p:spPr>
          <a:xfrm>
            <a:off x="6210300" y="2847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102A43"/>
                </a:solidFill>
              </a:defRPr>
            </a:pPr>
            <a:r>
              <a:rPr sz="975" b="1">
                <a:solidFill>
                  <a:srgbClr val="102A43"/>
                </a:solidFill>
              </a:rPr>
              <a:t>Geo-MHSA   (4 heads)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C5F2852B-3274-46A5-AB09-B66664FB4C4F}"/>
              </a:ext>
            </a:extLst>
          </p:cNvPr>
          <p:cNvSpPr>
            <a:spLocks noGrp="1"/>
          </p:cNvSpPr>
          <p:nvPr/>
        </p:nvSpPr>
        <p:spPr>
          <a:xfrm>
            <a:off x="6210300" y="3162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B6DAC76B-C6C7-417D-AB5E-245299117855}"/>
              </a:ext>
            </a:extLst>
          </p:cNvPr>
          <p:cNvSpPr>
            <a:spLocks noGrp="1"/>
          </p:cNvSpPr>
          <p:nvPr/>
        </p:nvSpPr>
        <p:spPr>
          <a:xfrm>
            <a:off x="6210300" y="3228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102A43"/>
                </a:solidFill>
              </a:defRPr>
            </a:pPr>
            <a:r>
              <a:rPr sz="975" b="0">
                <a:solidFill>
                  <a:srgbClr val="102A43"/>
                </a:solidFill>
              </a:rPr>
              <a:t>+ residual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97A75119-B68B-4297-A968-2B2F6E4D5410}"/>
              </a:ext>
            </a:extLst>
          </p:cNvPr>
          <p:cNvSpPr>
            <a:spLocks noGrp="1"/>
          </p:cNvSpPr>
          <p:nvPr/>
        </p:nvSpPr>
        <p:spPr>
          <a:xfrm>
            <a:off x="6210300" y="3543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2CAED721-C39E-4A7F-B0EA-B29D147562B0}"/>
              </a:ext>
            </a:extLst>
          </p:cNvPr>
          <p:cNvSpPr>
            <a:spLocks noGrp="1"/>
          </p:cNvSpPr>
          <p:nvPr/>
        </p:nvSpPr>
        <p:spPr>
          <a:xfrm>
            <a:off x="6210300" y="3609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102A43"/>
                </a:solidFill>
              </a:defRPr>
            </a:pPr>
            <a:r>
              <a:rPr sz="975" b="0">
                <a:solidFill>
                  <a:srgbClr val="102A43"/>
                </a:solidFill>
              </a:rPr>
              <a:t>LayerNorm</a:t>
            </a:r>
          </a:p>
        </p:txBody>
      </p: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5739EF9E-A2B6-44A4-B960-E5615FE97395}"/>
              </a:ext>
            </a:extLst>
          </p:cNvPr>
          <p:cNvSpPr>
            <a:spLocks noGrp="1"/>
          </p:cNvSpPr>
          <p:nvPr/>
        </p:nvSpPr>
        <p:spPr>
          <a:xfrm>
            <a:off x="6210300" y="3924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E0BA207F-8D58-44BA-A5ED-1C932359B7F4}"/>
              </a:ext>
            </a:extLst>
          </p:cNvPr>
          <p:cNvSpPr>
            <a:spLocks noGrp="1"/>
          </p:cNvSpPr>
          <p:nvPr/>
        </p:nvSpPr>
        <p:spPr>
          <a:xfrm>
            <a:off x="6210300" y="3990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102A43"/>
                </a:solidFill>
              </a:defRPr>
            </a:pPr>
            <a:r>
              <a:rPr sz="975" b="1">
                <a:solidFill>
                  <a:srgbClr val="102A43"/>
                </a:solidFill>
              </a:rPr>
              <a:t>FFN   80 -&gt; 160 -&gt; 80</a:t>
            </a:r>
          </a:p>
        </p:txBody>
      </p:sp>
      <p:sp>
        <p:nvSpPr>
          <p:cNvPr id="98" name="矩形: 圆角 97">
            <a:extLst>
              <a:ext uri="{FF2B5EF4-FFF2-40B4-BE49-F238E27FC236}">
                <a16:creationId xmlns:a16="http://schemas.microsoft.com/office/drawing/2014/main" id="{78749E00-FDF2-44B7-83C2-977D1AA00B36}"/>
              </a:ext>
            </a:extLst>
          </p:cNvPr>
          <p:cNvSpPr>
            <a:spLocks noGrp="1"/>
          </p:cNvSpPr>
          <p:nvPr/>
        </p:nvSpPr>
        <p:spPr>
          <a:xfrm>
            <a:off x="6210300" y="4305300"/>
            <a:ext cx="1504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53BD8D3A-303D-4FD6-91C5-8902BDAE3FF2}"/>
              </a:ext>
            </a:extLst>
          </p:cNvPr>
          <p:cNvSpPr>
            <a:spLocks noGrp="1"/>
          </p:cNvSpPr>
          <p:nvPr/>
        </p:nvSpPr>
        <p:spPr>
          <a:xfrm>
            <a:off x="6210300" y="4371975"/>
            <a:ext cx="1504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102A43"/>
                </a:solidFill>
              </a:defRPr>
            </a:pPr>
            <a:r>
              <a:rPr sz="975" b="0">
                <a:solidFill>
                  <a:srgbClr val="102A43"/>
                </a:solidFill>
              </a:rPr>
              <a:t>+ residual</a:t>
            </a:r>
          </a:p>
        </p:txBody>
      </p:sp>
      <p:sp>
        <p:nvSpPr>
          <p:cNvPr id="100" name="直接连接符 99">
            <a:extLst>
              <a:ext uri="{FF2B5EF4-FFF2-40B4-BE49-F238E27FC236}">
                <a16:creationId xmlns:a16="http://schemas.microsoft.com/office/drawing/2014/main" id="{AD33E030-4A8A-4A99-9C80-E5D36619A6AC}"/>
              </a:ext>
            </a:extLst>
          </p:cNvPr>
          <p:cNvSpPr>
            <a:spLocks noGrp="1"/>
          </p:cNvSpPr>
          <p:nvPr/>
        </p:nvSpPr>
        <p:spPr>
          <a:xfrm>
            <a:off x="6019800" y="2933700"/>
            <a:ext cx="152400" cy="0"/>
          </a:xfrm>
          <a:prstGeom prst="line">
            <a:avLst/>
          </a:prstGeom>
          <a:noFill/>
          <a:ln w="17145">
            <a:solidFill>
              <a:srgbClr val="007F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直接连接符 100">
            <a:extLst>
              <a:ext uri="{FF2B5EF4-FFF2-40B4-BE49-F238E27FC236}">
                <a16:creationId xmlns:a16="http://schemas.microsoft.com/office/drawing/2014/main" id="{AAAA63C5-EA75-40DB-9509-BD1A39A30A98}"/>
              </a:ext>
            </a:extLst>
          </p:cNvPr>
          <p:cNvSpPr>
            <a:spLocks noGrp="1"/>
          </p:cNvSpPr>
          <p:nvPr/>
        </p:nvSpPr>
        <p:spPr>
          <a:xfrm>
            <a:off x="7772400" y="2933700"/>
            <a:ext cx="133350" cy="0"/>
          </a:xfrm>
          <a:prstGeom prst="line">
            <a:avLst/>
          </a:prstGeom>
          <a:noFill/>
          <a:ln w="17145">
            <a:solidFill>
              <a:srgbClr val="007F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矩形: 圆角 101">
            <a:extLst>
              <a:ext uri="{FF2B5EF4-FFF2-40B4-BE49-F238E27FC236}">
                <a16:creationId xmlns:a16="http://schemas.microsoft.com/office/drawing/2014/main" id="{4454B254-8573-4048-90A3-EAEDC0763AF3}"/>
              </a:ext>
            </a:extLst>
          </p:cNvPr>
          <p:cNvSpPr>
            <a:spLocks noGrp="1"/>
          </p:cNvSpPr>
          <p:nvPr/>
        </p:nvSpPr>
        <p:spPr>
          <a:xfrm>
            <a:off x="5429250" y="4762500"/>
            <a:ext cx="3105150" cy="666750"/>
          </a:xfrm>
          <a:prstGeom prst="roundRect">
            <a:avLst>
              <a:gd name="adj" fmla="val 14286"/>
            </a:avLst>
          </a:prstGeom>
          <a:solidFill>
            <a:srgbClr val="FFF7DB"/>
          </a:solidFill>
          <a:ln w="9525">
            <a:solidFill>
              <a:srgbClr val="C7AF5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4754C64-5017-47FD-AA4B-BFA050F518C5}"/>
              </a:ext>
            </a:extLst>
          </p:cNvPr>
          <p:cNvSpPr>
            <a:spLocks noGrp="1"/>
          </p:cNvSpPr>
          <p:nvPr/>
        </p:nvSpPr>
        <p:spPr>
          <a:xfrm>
            <a:off x="5581650" y="48577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102A43"/>
                </a:solidFill>
              </a:defRPr>
            </a:pPr>
            <a:r>
              <a:rPr sz="975" b="1">
                <a:solidFill>
                  <a:srgbClr val="102A43"/>
                </a:solidFill>
              </a:rPr>
              <a:t>pair_features (10-D)</a:t>
            </a:r>
          </a:p>
          <a:p>
            <a:pPr algn="ctr">
              <a:defRPr sz="975" b="1">
                <a:solidFill>
                  <a:srgbClr val="102A43"/>
                </a:solidFill>
              </a:defRPr>
            </a:pPr>
            <a:r>
              <a:rPr sz="975" b="1">
                <a:solidFill>
                  <a:srgbClr val="102A43"/>
                </a:solidFill>
              </a:rPr>
              <a:t> bias MLP 10 -&gt; 32 -&gt; 4 heads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DB785A62-68BD-4B95-86A9-44AA456BE7AE}"/>
              </a:ext>
            </a:extLst>
          </p:cNvPr>
          <p:cNvSpPr>
            <a:spLocks noGrp="1"/>
          </p:cNvSpPr>
          <p:nvPr/>
        </p:nvSpPr>
        <p:spPr>
          <a:xfrm>
            <a:off x="5638800" y="5219700"/>
            <a:ext cx="26670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B7083"/>
                </a:solidFill>
              </a:defRPr>
            </a:pPr>
            <a:r>
              <a:rPr sz="825" b="0">
                <a:solidFill>
                  <a:srgbClr val="5B7083"/>
                </a:solidFill>
              </a:rPr>
              <a:t>distance, dx, dy, angle, blocked path, edge type</a:t>
            </a:r>
          </a:p>
        </p:txBody>
      </p:sp>
      <p:sp>
        <p:nvSpPr>
          <p:cNvPr id="105" name="直接连接符 104">
            <a:extLst>
              <a:ext uri="{FF2B5EF4-FFF2-40B4-BE49-F238E27FC236}">
                <a16:creationId xmlns:a16="http://schemas.microsoft.com/office/drawing/2014/main" id="{94B9D342-D084-4498-840E-AA0FC7EC8787}"/>
              </a:ext>
            </a:extLst>
          </p:cNvPr>
          <p:cNvSpPr>
            <a:spLocks noGrp="1"/>
          </p:cNvSpPr>
          <p:nvPr/>
        </p:nvSpPr>
        <p:spPr>
          <a:xfrm>
            <a:off x="6953250" y="4762500"/>
            <a:ext cx="0" cy="0"/>
          </a:xfrm>
          <a:prstGeom prst="line">
            <a:avLst/>
          </a:prstGeom>
          <a:noFill/>
          <a:ln w="19050">
            <a:solidFill>
              <a:srgbClr val="EC6F45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直接连接符 105">
            <a:extLst>
              <a:ext uri="{FF2B5EF4-FFF2-40B4-BE49-F238E27FC236}">
                <a16:creationId xmlns:a16="http://schemas.microsoft.com/office/drawing/2014/main" id="{C483EC98-9A99-4647-BE8F-C55741C0604B}"/>
              </a:ext>
            </a:extLst>
          </p:cNvPr>
          <p:cNvSpPr>
            <a:spLocks noGrp="1"/>
          </p:cNvSpPr>
          <p:nvPr/>
        </p:nvSpPr>
        <p:spPr>
          <a:xfrm>
            <a:off x="6953250" y="3162300"/>
            <a:ext cx="0" cy="0"/>
          </a:xfrm>
          <a:prstGeom prst="line">
            <a:avLst/>
          </a:prstGeom>
          <a:noFill/>
          <a:ln w="19050">
            <a:solidFill>
              <a:srgbClr val="EC6F45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箭头: 右 106">
            <a:extLst>
              <a:ext uri="{FF2B5EF4-FFF2-40B4-BE49-F238E27FC236}">
                <a16:creationId xmlns:a16="http://schemas.microsoft.com/office/drawing/2014/main" id="{8037413C-8DC3-47B5-A260-5C08A62EF7A2}"/>
              </a:ext>
            </a:extLst>
          </p:cNvPr>
          <p:cNvSpPr>
            <a:spLocks noGrp="1"/>
          </p:cNvSpPr>
          <p:nvPr/>
        </p:nvSpPr>
        <p:spPr>
          <a:xfrm>
            <a:off x="8343900" y="3390900"/>
            <a:ext cx="323850" cy="19050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96039D9-39D8-42F5-B152-867875119E10}"/>
              </a:ext>
            </a:extLst>
          </p:cNvPr>
          <p:cNvSpPr>
            <a:spLocks noGrp="1"/>
          </p:cNvSpPr>
          <p:nvPr/>
        </p:nvSpPr>
        <p:spPr>
          <a:xfrm>
            <a:off x="8763000" y="2381250"/>
            <a:ext cx="914400" cy="104775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08712B4B-4D46-4847-BF6B-347009562831}"/>
              </a:ext>
            </a:extLst>
          </p:cNvPr>
          <p:cNvSpPr>
            <a:spLocks noGrp="1"/>
          </p:cNvSpPr>
          <p:nvPr/>
        </p:nvSpPr>
        <p:spPr>
          <a:xfrm>
            <a:off x="8877300" y="2495550"/>
            <a:ext cx="685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Pooling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C3834413-A52C-4F45-8055-15F9C0247771}"/>
              </a:ext>
            </a:extLst>
          </p:cNvPr>
          <p:cNvSpPr>
            <a:spLocks noGrp="1"/>
          </p:cNvSpPr>
          <p:nvPr/>
        </p:nvSpPr>
        <p:spPr>
          <a:xfrm>
            <a:off x="8976360" y="2842260"/>
            <a:ext cx="457200" cy="228600"/>
          </a:xfrm>
          <a:prstGeom prst="roundRect">
            <a:avLst>
              <a:gd name="adj" fmla="val 25000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CD3E22B-2C9F-44CE-9FAF-B33CE07DB34C}"/>
              </a:ext>
            </a:extLst>
          </p:cNvPr>
          <p:cNvSpPr>
            <a:spLocks noGrp="1"/>
          </p:cNvSpPr>
          <p:nvPr/>
        </p:nvSpPr>
        <p:spPr>
          <a:xfrm>
            <a:off x="8991600" y="2847975"/>
            <a:ext cx="4572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007FC4"/>
                </a:solidFill>
              </a:defRPr>
            </a:pPr>
            <a:r>
              <a:rPr sz="900" b="1" dirty="0">
                <a:solidFill>
                  <a:srgbClr val="007FC4"/>
                </a:solidFill>
              </a:rPr>
              <a:t>CLS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9B8775D6-9A71-4350-94C4-DB52E2C4BEA6}"/>
              </a:ext>
            </a:extLst>
          </p:cNvPr>
          <p:cNvSpPr>
            <a:spLocks noGrp="1"/>
          </p:cNvSpPr>
          <p:nvPr/>
        </p:nvSpPr>
        <p:spPr>
          <a:xfrm>
            <a:off x="8983980" y="3143250"/>
            <a:ext cx="457200" cy="228600"/>
          </a:xfrm>
          <a:prstGeom prst="roundRect">
            <a:avLst>
              <a:gd name="adj" fmla="val 25000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676AAC9-FBBE-4C5B-A84F-E226DBDEFB0F}"/>
              </a:ext>
            </a:extLst>
          </p:cNvPr>
          <p:cNvSpPr>
            <a:spLocks noGrp="1"/>
          </p:cNvSpPr>
          <p:nvPr/>
        </p:nvSpPr>
        <p:spPr>
          <a:xfrm>
            <a:off x="8991600" y="3152775"/>
            <a:ext cx="4572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20C29F"/>
                </a:solidFill>
              </a:defRPr>
            </a:pPr>
            <a:r>
              <a:rPr sz="900" b="1" dirty="0">
                <a:solidFill>
                  <a:srgbClr val="20C29F"/>
                </a:solidFill>
              </a:rPr>
              <a:t>mean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781645D6-994C-4E7F-96B9-2CB2F3CA47BC}"/>
              </a:ext>
            </a:extLst>
          </p:cNvPr>
          <p:cNvSpPr>
            <a:spLocks noGrp="1"/>
          </p:cNvSpPr>
          <p:nvPr/>
        </p:nvSpPr>
        <p:spPr>
          <a:xfrm>
            <a:off x="8839200" y="354330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B7083"/>
                </a:solidFill>
              </a:defRPr>
            </a:pPr>
            <a:r>
              <a:rPr sz="900" b="0">
                <a:solidFill>
                  <a:srgbClr val="5B7083"/>
                </a:solidFill>
              </a:rPr>
              <a:t>concat -&gt;</a:t>
            </a:r>
          </a:p>
          <a:p>
            <a:pPr algn="ctr">
              <a:defRPr sz="900" b="0">
                <a:solidFill>
                  <a:srgbClr val="5B7083"/>
                </a:solidFill>
              </a:defRPr>
            </a:pPr>
            <a:r>
              <a:rPr sz="900" b="0">
                <a:solidFill>
                  <a:srgbClr val="5B7083"/>
                </a:solidFill>
              </a:rPr>
              <a:t>160-D</a:t>
            </a:r>
          </a:p>
        </p:txBody>
      </p:sp>
      <p:sp>
        <p:nvSpPr>
          <p:cNvPr id="115" name="箭头: 右 114">
            <a:extLst>
              <a:ext uri="{FF2B5EF4-FFF2-40B4-BE49-F238E27FC236}">
                <a16:creationId xmlns:a16="http://schemas.microsoft.com/office/drawing/2014/main" id="{BD15326D-E19A-4115-9169-DB14DC72C169}"/>
              </a:ext>
            </a:extLst>
          </p:cNvPr>
          <p:cNvSpPr>
            <a:spLocks noGrp="1"/>
          </p:cNvSpPr>
          <p:nvPr/>
        </p:nvSpPr>
        <p:spPr>
          <a:xfrm>
            <a:off x="9791700" y="3390900"/>
            <a:ext cx="323850" cy="190500"/>
          </a:xfrm>
          <a:prstGeom prst="rightArrow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222537DA-EFC9-40C2-9479-324C88F427E3}"/>
              </a:ext>
            </a:extLst>
          </p:cNvPr>
          <p:cNvSpPr>
            <a:spLocks noGrp="1"/>
          </p:cNvSpPr>
          <p:nvPr/>
        </p:nvSpPr>
        <p:spPr>
          <a:xfrm>
            <a:off x="10210800" y="2019300"/>
            <a:ext cx="1047750" cy="20002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715586DB-1ADB-4603-B5C6-450B7BFBCEAD}"/>
              </a:ext>
            </a:extLst>
          </p:cNvPr>
          <p:cNvSpPr>
            <a:spLocks noGrp="1"/>
          </p:cNvSpPr>
          <p:nvPr/>
        </p:nvSpPr>
        <p:spPr>
          <a:xfrm>
            <a:off x="10344150" y="2152650"/>
            <a:ext cx="781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joint head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5296F88B-7A7C-47CF-9302-C7B7D67A7C9C}"/>
              </a:ext>
            </a:extLst>
          </p:cNvPr>
          <p:cNvSpPr>
            <a:spLocks noGrp="1"/>
          </p:cNvSpPr>
          <p:nvPr/>
        </p:nvSpPr>
        <p:spPr>
          <a:xfrm>
            <a:off x="10420350" y="24574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A654E733-BCF9-44FD-AD95-05AE4CF408BA}"/>
              </a:ext>
            </a:extLst>
          </p:cNvPr>
          <p:cNvSpPr>
            <a:spLocks noGrp="1"/>
          </p:cNvSpPr>
          <p:nvPr/>
        </p:nvSpPr>
        <p:spPr>
          <a:xfrm>
            <a:off x="10553700" y="245745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D8729D05-5118-43FB-94BA-A19B636A8F45}"/>
              </a:ext>
            </a:extLst>
          </p:cNvPr>
          <p:cNvSpPr>
            <a:spLocks noGrp="1"/>
          </p:cNvSpPr>
          <p:nvPr/>
        </p:nvSpPr>
        <p:spPr>
          <a:xfrm>
            <a:off x="10687050" y="24574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3C61D63F-D782-4502-8742-D844E0476D9E}"/>
              </a:ext>
            </a:extLst>
          </p:cNvPr>
          <p:cNvSpPr>
            <a:spLocks noGrp="1"/>
          </p:cNvSpPr>
          <p:nvPr/>
        </p:nvSpPr>
        <p:spPr>
          <a:xfrm>
            <a:off x="10820400" y="245745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E63DA46B-1402-4130-AB9A-60FCBD43FEF5}"/>
              </a:ext>
            </a:extLst>
          </p:cNvPr>
          <p:cNvSpPr>
            <a:spLocks noGrp="1"/>
          </p:cNvSpPr>
          <p:nvPr/>
        </p:nvSpPr>
        <p:spPr>
          <a:xfrm>
            <a:off x="10953750" y="24574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8FFA5B7-020D-4471-A1BE-27C2ADE02DE1}"/>
              </a:ext>
            </a:extLst>
          </p:cNvPr>
          <p:cNvSpPr>
            <a:spLocks noGrp="1"/>
          </p:cNvSpPr>
          <p:nvPr/>
        </p:nvSpPr>
        <p:spPr>
          <a:xfrm>
            <a:off x="10420350" y="25908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B8AEF621-06AA-4A36-BCB1-28EC4A94F8DE}"/>
              </a:ext>
            </a:extLst>
          </p:cNvPr>
          <p:cNvSpPr>
            <a:spLocks noGrp="1"/>
          </p:cNvSpPr>
          <p:nvPr/>
        </p:nvSpPr>
        <p:spPr>
          <a:xfrm>
            <a:off x="10553700" y="259080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932034F5-935A-46D3-B069-9A5E93B0758C}"/>
              </a:ext>
            </a:extLst>
          </p:cNvPr>
          <p:cNvSpPr>
            <a:spLocks noGrp="1"/>
          </p:cNvSpPr>
          <p:nvPr/>
        </p:nvSpPr>
        <p:spPr>
          <a:xfrm>
            <a:off x="10687050" y="25908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DB664D1B-9647-4E21-B785-687E0CF6C8A4}"/>
              </a:ext>
            </a:extLst>
          </p:cNvPr>
          <p:cNvSpPr>
            <a:spLocks noGrp="1"/>
          </p:cNvSpPr>
          <p:nvPr/>
        </p:nvSpPr>
        <p:spPr>
          <a:xfrm>
            <a:off x="10820400" y="259080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0CF4A28-FC5A-4299-A7D6-81DC24D8DBB0}"/>
              </a:ext>
            </a:extLst>
          </p:cNvPr>
          <p:cNvSpPr>
            <a:spLocks noGrp="1"/>
          </p:cNvSpPr>
          <p:nvPr/>
        </p:nvSpPr>
        <p:spPr>
          <a:xfrm>
            <a:off x="10953750" y="25908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63268444-D495-4669-A02E-4B32510755E0}"/>
              </a:ext>
            </a:extLst>
          </p:cNvPr>
          <p:cNvSpPr>
            <a:spLocks noGrp="1"/>
          </p:cNvSpPr>
          <p:nvPr/>
        </p:nvSpPr>
        <p:spPr>
          <a:xfrm>
            <a:off x="10420350" y="27241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D6E357D7-6D13-411C-90B0-185761E23A3F}"/>
              </a:ext>
            </a:extLst>
          </p:cNvPr>
          <p:cNvSpPr>
            <a:spLocks noGrp="1"/>
          </p:cNvSpPr>
          <p:nvPr/>
        </p:nvSpPr>
        <p:spPr>
          <a:xfrm>
            <a:off x="10553700" y="272415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D53E6DD4-5FF3-4D1C-A85E-B1CDA6356C55}"/>
              </a:ext>
            </a:extLst>
          </p:cNvPr>
          <p:cNvSpPr>
            <a:spLocks noGrp="1"/>
          </p:cNvSpPr>
          <p:nvPr/>
        </p:nvSpPr>
        <p:spPr>
          <a:xfrm>
            <a:off x="10687050" y="27241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9B66A4F-D013-4717-AB8B-01FB61218612}"/>
              </a:ext>
            </a:extLst>
          </p:cNvPr>
          <p:cNvSpPr>
            <a:spLocks noGrp="1"/>
          </p:cNvSpPr>
          <p:nvPr/>
        </p:nvSpPr>
        <p:spPr>
          <a:xfrm>
            <a:off x="10820400" y="272415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A8C326A-B02A-4B32-A4DA-DE1D38F1CDD9}"/>
              </a:ext>
            </a:extLst>
          </p:cNvPr>
          <p:cNvSpPr>
            <a:spLocks noGrp="1"/>
          </p:cNvSpPr>
          <p:nvPr/>
        </p:nvSpPr>
        <p:spPr>
          <a:xfrm>
            <a:off x="10953750" y="27241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727BA2F-014A-4556-9698-3441E24118B3}"/>
              </a:ext>
            </a:extLst>
          </p:cNvPr>
          <p:cNvSpPr>
            <a:spLocks noGrp="1"/>
          </p:cNvSpPr>
          <p:nvPr/>
        </p:nvSpPr>
        <p:spPr>
          <a:xfrm>
            <a:off x="10420350" y="28575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66C8E85A-4608-485C-827C-D857EBB3BA96}"/>
              </a:ext>
            </a:extLst>
          </p:cNvPr>
          <p:cNvSpPr>
            <a:spLocks noGrp="1"/>
          </p:cNvSpPr>
          <p:nvPr/>
        </p:nvSpPr>
        <p:spPr>
          <a:xfrm>
            <a:off x="10553700" y="285750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440E5F57-37F3-4F56-A89F-93EAA9C44690}"/>
              </a:ext>
            </a:extLst>
          </p:cNvPr>
          <p:cNvSpPr>
            <a:spLocks noGrp="1"/>
          </p:cNvSpPr>
          <p:nvPr/>
        </p:nvSpPr>
        <p:spPr>
          <a:xfrm>
            <a:off x="10687050" y="28575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681EE73-3658-4F22-A021-BEA1A311565A}"/>
              </a:ext>
            </a:extLst>
          </p:cNvPr>
          <p:cNvSpPr>
            <a:spLocks noGrp="1"/>
          </p:cNvSpPr>
          <p:nvPr/>
        </p:nvSpPr>
        <p:spPr>
          <a:xfrm>
            <a:off x="10820400" y="285750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B7A6C74-036F-4801-B8EC-C7DAAED8A90A}"/>
              </a:ext>
            </a:extLst>
          </p:cNvPr>
          <p:cNvSpPr>
            <a:spLocks noGrp="1"/>
          </p:cNvSpPr>
          <p:nvPr/>
        </p:nvSpPr>
        <p:spPr>
          <a:xfrm>
            <a:off x="10953750" y="28575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8591B87-578B-48C6-BF2F-ACF5FA086CA8}"/>
              </a:ext>
            </a:extLst>
          </p:cNvPr>
          <p:cNvSpPr>
            <a:spLocks noGrp="1"/>
          </p:cNvSpPr>
          <p:nvPr/>
        </p:nvSpPr>
        <p:spPr>
          <a:xfrm>
            <a:off x="10420350" y="29908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59C0E26A-EA36-42F7-8824-05E0632FB158}"/>
              </a:ext>
            </a:extLst>
          </p:cNvPr>
          <p:cNvSpPr>
            <a:spLocks noGrp="1"/>
          </p:cNvSpPr>
          <p:nvPr/>
        </p:nvSpPr>
        <p:spPr>
          <a:xfrm>
            <a:off x="10553700" y="299085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416B846B-0F54-4F63-BA06-EDB2E26503FD}"/>
              </a:ext>
            </a:extLst>
          </p:cNvPr>
          <p:cNvSpPr>
            <a:spLocks noGrp="1"/>
          </p:cNvSpPr>
          <p:nvPr/>
        </p:nvSpPr>
        <p:spPr>
          <a:xfrm>
            <a:off x="10687050" y="29908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A76B4455-94E3-446C-A2C0-B5CE70D96FA6}"/>
              </a:ext>
            </a:extLst>
          </p:cNvPr>
          <p:cNvSpPr>
            <a:spLocks noGrp="1"/>
          </p:cNvSpPr>
          <p:nvPr/>
        </p:nvSpPr>
        <p:spPr>
          <a:xfrm>
            <a:off x="10820400" y="299085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728BDD44-69EE-452E-BE84-A644F945B9DD}"/>
              </a:ext>
            </a:extLst>
          </p:cNvPr>
          <p:cNvSpPr>
            <a:spLocks noGrp="1"/>
          </p:cNvSpPr>
          <p:nvPr/>
        </p:nvSpPr>
        <p:spPr>
          <a:xfrm>
            <a:off x="10953750" y="29908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B76BB44A-5804-460D-A912-F99C2E6BA336}"/>
              </a:ext>
            </a:extLst>
          </p:cNvPr>
          <p:cNvSpPr>
            <a:spLocks noGrp="1"/>
          </p:cNvSpPr>
          <p:nvPr/>
        </p:nvSpPr>
        <p:spPr>
          <a:xfrm>
            <a:off x="10420350" y="31242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1F41ABEC-F454-4CF4-B7A1-14AAB5074AB6}"/>
              </a:ext>
            </a:extLst>
          </p:cNvPr>
          <p:cNvSpPr>
            <a:spLocks noGrp="1"/>
          </p:cNvSpPr>
          <p:nvPr/>
        </p:nvSpPr>
        <p:spPr>
          <a:xfrm>
            <a:off x="10553700" y="312420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09F56E-7708-4C66-8B9C-FE4B19A2F1D6}"/>
              </a:ext>
            </a:extLst>
          </p:cNvPr>
          <p:cNvSpPr>
            <a:spLocks noGrp="1"/>
          </p:cNvSpPr>
          <p:nvPr/>
        </p:nvSpPr>
        <p:spPr>
          <a:xfrm>
            <a:off x="10687050" y="31242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4087117A-3046-4192-A9F0-5EA58E0DEDCB}"/>
              </a:ext>
            </a:extLst>
          </p:cNvPr>
          <p:cNvSpPr>
            <a:spLocks noGrp="1"/>
          </p:cNvSpPr>
          <p:nvPr/>
        </p:nvSpPr>
        <p:spPr>
          <a:xfrm>
            <a:off x="10820400" y="312420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6EF56A0F-BAC8-48C8-AD02-FEAC087E6E13}"/>
              </a:ext>
            </a:extLst>
          </p:cNvPr>
          <p:cNvSpPr>
            <a:spLocks noGrp="1"/>
          </p:cNvSpPr>
          <p:nvPr/>
        </p:nvSpPr>
        <p:spPr>
          <a:xfrm>
            <a:off x="10953750" y="31242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D36E401B-FA81-4091-9BDA-FEA7316AFB72}"/>
              </a:ext>
            </a:extLst>
          </p:cNvPr>
          <p:cNvSpPr>
            <a:spLocks noGrp="1"/>
          </p:cNvSpPr>
          <p:nvPr/>
        </p:nvSpPr>
        <p:spPr>
          <a:xfrm>
            <a:off x="10420350" y="32575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87AE8760-D9B9-420F-8653-16008DBDED95}"/>
              </a:ext>
            </a:extLst>
          </p:cNvPr>
          <p:cNvSpPr>
            <a:spLocks noGrp="1"/>
          </p:cNvSpPr>
          <p:nvPr/>
        </p:nvSpPr>
        <p:spPr>
          <a:xfrm>
            <a:off x="10553700" y="325755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262F7FE5-3D18-495C-A62A-EB361E0D9264}"/>
              </a:ext>
            </a:extLst>
          </p:cNvPr>
          <p:cNvSpPr>
            <a:spLocks noGrp="1"/>
          </p:cNvSpPr>
          <p:nvPr/>
        </p:nvSpPr>
        <p:spPr>
          <a:xfrm>
            <a:off x="10687050" y="325755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C390F512-2AA5-4500-9BD2-B84EAC790089}"/>
              </a:ext>
            </a:extLst>
          </p:cNvPr>
          <p:cNvSpPr>
            <a:spLocks noGrp="1"/>
          </p:cNvSpPr>
          <p:nvPr/>
        </p:nvSpPr>
        <p:spPr>
          <a:xfrm>
            <a:off x="10820400" y="325755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86396043-AEF8-44F0-9A1F-608631755E02}"/>
              </a:ext>
            </a:extLst>
          </p:cNvPr>
          <p:cNvSpPr>
            <a:spLocks noGrp="1"/>
          </p:cNvSpPr>
          <p:nvPr/>
        </p:nvSpPr>
        <p:spPr>
          <a:xfrm>
            <a:off x="10953750" y="325755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1F0D3512-46E6-4F63-AD6E-AFBFA125FDA9}"/>
              </a:ext>
            </a:extLst>
          </p:cNvPr>
          <p:cNvSpPr>
            <a:spLocks noGrp="1"/>
          </p:cNvSpPr>
          <p:nvPr/>
        </p:nvSpPr>
        <p:spPr>
          <a:xfrm>
            <a:off x="10420350" y="33909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497FB984-A2E2-46BF-89AF-AE0D71B7A3F4}"/>
              </a:ext>
            </a:extLst>
          </p:cNvPr>
          <p:cNvSpPr>
            <a:spLocks noGrp="1"/>
          </p:cNvSpPr>
          <p:nvPr/>
        </p:nvSpPr>
        <p:spPr>
          <a:xfrm>
            <a:off x="10553700" y="3390900"/>
            <a:ext cx="123825" cy="123825"/>
          </a:xfrm>
          <a:prstGeom prst="rect">
            <a:avLst/>
          </a:prstGeom>
          <a:solidFill>
            <a:srgbClr val="EAF6FC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1B3547A6-5AB7-44AD-A5E7-60E11BA965E8}"/>
              </a:ext>
            </a:extLst>
          </p:cNvPr>
          <p:cNvSpPr>
            <a:spLocks noGrp="1"/>
          </p:cNvSpPr>
          <p:nvPr/>
        </p:nvSpPr>
        <p:spPr>
          <a:xfrm>
            <a:off x="10687050" y="3390900"/>
            <a:ext cx="123825" cy="123825"/>
          </a:xfrm>
          <a:prstGeom prst="rect">
            <a:avLst/>
          </a:prstGeom>
          <a:solidFill>
            <a:srgbClr val="DCE7C8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996352CE-1198-4B61-836F-A34E82E9D0E0}"/>
              </a:ext>
            </a:extLst>
          </p:cNvPr>
          <p:cNvSpPr>
            <a:spLocks noGrp="1"/>
          </p:cNvSpPr>
          <p:nvPr/>
        </p:nvSpPr>
        <p:spPr>
          <a:xfrm>
            <a:off x="10820400" y="3390900"/>
            <a:ext cx="123825" cy="123825"/>
          </a:xfrm>
          <a:prstGeom prst="rect">
            <a:avLst/>
          </a:prstGeom>
          <a:solidFill>
            <a:srgbClr val="EAFBF6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1E0AF4D-51D8-4659-98A3-4228AF3E6A65}"/>
              </a:ext>
            </a:extLst>
          </p:cNvPr>
          <p:cNvSpPr>
            <a:spLocks noGrp="1"/>
          </p:cNvSpPr>
          <p:nvPr/>
        </p:nvSpPr>
        <p:spPr>
          <a:xfrm>
            <a:off x="10953750" y="3390900"/>
            <a:ext cx="123825" cy="123825"/>
          </a:xfrm>
          <a:prstGeom prst="rect">
            <a:avLst/>
          </a:prstGeom>
          <a:solidFill>
            <a:srgbClr val="FDF0EA"/>
          </a:solidFill>
          <a:ln w="381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B9A3B2EB-4327-4FCB-BF2E-CC869B4F2B7A}"/>
              </a:ext>
            </a:extLst>
          </p:cNvPr>
          <p:cNvSpPr>
            <a:spLocks noGrp="1"/>
          </p:cNvSpPr>
          <p:nvPr/>
        </p:nvSpPr>
        <p:spPr>
          <a:xfrm>
            <a:off x="10363200" y="3581400"/>
            <a:ext cx="857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B7083"/>
                </a:solidFill>
              </a:defRPr>
            </a:pPr>
            <a:r>
              <a:rPr sz="900" b="0">
                <a:solidFill>
                  <a:srgbClr val="5B7083"/>
                </a:solidFill>
              </a:rPr>
              <a:t>40 logits = 2 x 2 x 10</a:t>
            </a:r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450072B3-F879-41BB-B38C-E3C81FE2B794}"/>
              </a:ext>
            </a:extLst>
          </p:cNvPr>
          <p:cNvSpPr>
            <a:spLocks noGrp="1"/>
          </p:cNvSpPr>
          <p:nvPr/>
        </p:nvSpPr>
        <p:spPr>
          <a:xfrm>
            <a:off x="10267950" y="4171950"/>
            <a:ext cx="9906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102A43"/>
                </a:solidFill>
              </a:defRPr>
            </a:pPr>
            <a:r>
              <a:rPr sz="975" b="1">
                <a:solidFill>
                  <a:srgbClr val="102A43"/>
                </a:solidFill>
              </a:rPr>
              <a:t>marginals</a:t>
            </a:r>
          </a:p>
        </p:txBody>
      </p:sp>
      <p:sp>
        <p:nvSpPr>
          <p:cNvPr id="160" name="矩形: 圆角 159">
            <a:extLst>
              <a:ext uri="{FF2B5EF4-FFF2-40B4-BE49-F238E27FC236}">
                <a16:creationId xmlns:a16="http://schemas.microsoft.com/office/drawing/2014/main" id="{F66D810F-1A4A-4C05-9ED2-1B22ED7E1486}"/>
              </a:ext>
            </a:extLst>
          </p:cNvPr>
          <p:cNvSpPr>
            <a:spLocks noGrp="1"/>
          </p:cNvSpPr>
          <p:nvPr/>
        </p:nvSpPr>
        <p:spPr>
          <a:xfrm>
            <a:off x="10287000" y="4419600"/>
            <a:ext cx="876300" cy="3048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9525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D3FEF76D-8228-4264-B728-8AE81E0F3036}"/>
              </a:ext>
            </a:extLst>
          </p:cNvPr>
          <p:cNvSpPr>
            <a:spLocks noGrp="1"/>
          </p:cNvSpPr>
          <p:nvPr/>
        </p:nvSpPr>
        <p:spPr>
          <a:xfrm>
            <a:off x="10287000" y="4476750"/>
            <a:ext cx="876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07FC4"/>
                </a:solidFill>
              </a:defRPr>
            </a:pPr>
            <a:r>
              <a:rPr sz="1050" b="1">
                <a:solidFill>
                  <a:srgbClr val="007FC4"/>
                </a:solidFill>
              </a:rPr>
              <a:t>clear / win</a:t>
            </a:r>
          </a:p>
        </p:txBody>
      </p:sp>
      <p:sp>
        <p:nvSpPr>
          <p:cNvPr id="162" name="矩形: 圆角 161">
            <a:extLst>
              <a:ext uri="{FF2B5EF4-FFF2-40B4-BE49-F238E27FC236}">
                <a16:creationId xmlns:a16="http://schemas.microsoft.com/office/drawing/2014/main" id="{10D1918A-44FE-48F7-89BE-553C8932E9DC}"/>
              </a:ext>
            </a:extLst>
          </p:cNvPr>
          <p:cNvSpPr>
            <a:spLocks noGrp="1"/>
          </p:cNvSpPr>
          <p:nvPr/>
        </p:nvSpPr>
        <p:spPr>
          <a:xfrm>
            <a:off x="10382250" y="4781550"/>
            <a:ext cx="685800" cy="304800"/>
          </a:xfrm>
          <a:prstGeom prst="roundRect">
            <a:avLst>
              <a:gd name="adj" fmla="val 50000"/>
            </a:avLst>
          </a:prstGeom>
          <a:solidFill>
            <a:srgbClr val="FDF0EA"/>
          </a:solidFill>
          <a:ln w="9525">
            <a:solidFill>
              <a:srgbClr val="FDF0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68880703-EE66-4669-83FA-858B42198F6D}"/>
              </a:ext>
            </a:extLst>
          </p:cNvPr>
          <p:cNvSpPr>
            <a:spLocks noGrp="1"/>
          </p:cNvSpPr>
          <p:nvPr/>
        </p:nvSpPr>
        <p:spPr>
          <a:xfrm>
            <a:off x="10382250" y="4838700"/>
            <a:ext cx="685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EC6F45"/>
                </a:solidFill>
              </a:defRPr>
            </a:pPr>
            <a:r>
              <a:rPr sz="1050" b="1">
                <a:solidFill>
                  <a:srgbClr val="EC6F45"/>
                </a:solidFill>
              </a:rPr>
              <a:t>potted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B1B18F74-53F5-4018-BE8E-0A0FA6F491F5}"/>
              </a:ext>
            </a:extLst>
          </p:cNvPr>
          <p:cNvSpPr>
            <a:spLocks noGrp="1"/>
          </p:cNvSpPr>
          <p:nvPr/>
        </p:nvSpPr>
        <p:spPr>
          <a:xfrm>
            <a:off x="781050" y="5772150"/>
            <a:ext cx="10668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Selected model: d_model 80, 4 heads, 2 encoder layers, FFN 160, CLS+mean pooling, joint 40-state supervision, 121,426 parameters.</a:t>
            </a:r>
          </a:p>
        </p:txBody>
      </p:sp>
    </p:spTree>
    <p:extLst>
      <p:ext uri="{BB962C8B-B14F-4D97-AF65-F5344CB8AC3E}">
        <p14:creationId xmlns:p14="http://schemas.microsoft.com/office/powerpoint/2010/main" val="70252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3E199A72-ECA8-49CC-8762-B35C928DF22D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290241-46AB-4030-9230-D30EF585BA75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24FB117-B78A-42F3-BE32-28F148D41C9D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419D3F-5CBC-4CA6-8C40-70FF082CB382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3D59E0-ACE6-4AF0-99E4-0FDEE7B89760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368536-3F6C-41F0-93A3-4D4A7041F95D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BLFormer wins on held-out accuracy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0935669-4EB5-4012-9594-9BECF68EBBEB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81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>
                <a:solidFill>
                  <a:srgbClr val="5B7083"/>
                </a:solidFill>
              </a:rPr>
              <a:t>The report dashboard adds data-balance and validation-curve context.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16F46F7-74B2-4875-BB5A-B6EAD2BEA19B}"/>
              </a:ext>
            </a:extLst>
          </p:cNvPr>
          <p:cNvSpPr>
            <a:spLocks noGrp="1"/>
          </p:cNvSpPr>
          <p:nvPr/>
        </p:nvSpPr>
        <p:spPr>
          <a:xfrm>
            <a:off x="790575" y="1790700"/>
            <a:ext cx="4762500" cy="327025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87BB5F-C074-47F0-8375-A95982950EE9}"/>
              </a:ext>
            </a:extLst>
          </p:cNvPr>
          <p:cNvSpPr>
            <a:spLocks noGrp="1"/>
          </p:cNvSpPr>
          <p:nvPr/>
        </p:nvSpPr>
        <p:spPr>
          <a:xfrm>
            <a:off x="1019175" y="1962150"/>
            <a:ext cx="430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Held-out test accuracy by task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11D2E11-B148-435D-A4B3-86311B4FE44C}"/>
              </a:ext>
            </a:extLst>
          </p:cNvPr>
          <p:cNvSpPr>
            <a:spLocks noGrp="1"/>
          </p:cNvSpPr>
          <p:nvPr/>
        </p:nvSpPr>
        <p:spPr>
          <a:xfrm>
            <a:off x="1038225" y="2343150"/>
            <a:ext cx="1181100" cy="40005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0868391-62EB-4F50-A798-08FC1875EA00}"/>
              </a:ext>
            </a:extLst>
          </p:cNvPr>
          <p:cNvSpPr>
            <a:spLocks noGrp="1"/>
          </p:cNvSpPr>
          <p:nvPr/>
        </p:nvSpPr>
        <p:spPr>
          <a:xfrm>
            <a:off x="1038225" y="2447925"/>
            <a:ext cx="1181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Model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1CA57CC-3760-4454-9359-384942CE2C8F}"/>
              </a:ext>
            </a:extLst>
          </p:cNvPr>
          <p:cNvSpPr>
            <a:spLocks noGrp="1"/>
          </p:cNvSpPr>
          <p:nvPr/>
        </p:nvSpPr>
        <p:spPr>
          <a:xfrm>
            <a:off x="2333625" y="2343150"/>
            <a:ext cx="666750" cy="40005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67E914-E2D1-458D-BD8E-DAA31B96289B}"/>
              </a:ext>
            </a:extLst>
          </p:cNvPr>
          <p:cNvSpPr>
            <a:spLocks noGrp="1"/>
          </p:cNvSpPr>
          <p:nvPr/>
        </p:nvSpPr>
        <p:spPr>
          <a:xfrm>
            <a:off x="2333625" y="24479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Clear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679BC96-2AE1-4DB6-8BAE-CB79F5C5C4C2}"/>
              </a:ext>
            </a:extLst>
          </p:cNvPr>
          <p:cNvSpPr>
            <a:spLocks noGrp="1"/>
          </p:cNvSpPr>
          <p:nvPr/>
        </p:nvSpPr>
        <p:spPr>
          <a:xfrm>
            <a:off x="3095625" y="2343150"/>
            <a:ext cx="666750" cy="40005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A48DBEE-A31D-4607-AF4E-9273C17FFD27}"/>
              </a:ext>
            </a:extLst>
          </p:cNvPr>
          <p:cNvSpPr>
            <a:spLocks noGrp="1"/>
          </p:cNvSpPr>
          <p:nvPr/>
        </p:nvSpPr>
        <p:spPr>
          <a:xfrm>
            <a:off x="3095625" y="24479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Win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886FB5D-5683-46F9-97C3-76EDB39F9A90}"/>
              </a:ext>
            </a:extLst>
          </p:cNvPr>
          <p:cNvSpPr>
            <a:spLocks noGrp="1"/>
          </p:cNvSpPr>
          <p:nvPr/>
        </p:nvSpPr>
        <p:spPr>
          <a:xfrm>
            <a:off x="3857625" y="2343150"/>
            <a:ext cx="742950" cy="40005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5619B96-FEB8-41DF-9987-0B2107E070A8}"/>
              </a:ext>
            </a:extLst>
          </p:cNvPr>
          <p:cNvSpPr>
            <a:spLocks noGrp="1"/>
          </p:cNvSpPr>
          <p:nvPr/>
        </p:nvSpPr>
        <p:spPr>
          <a:xfrm>
            <a:off x="3857625" y="244792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Potted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AA10258-E620-4D7D-A84A-DA7821C1EC8C}"/>
              </a:ext>
            </a:extLst>
          </p:cNvPr>
          <p:cNvSpPr>
            <a:spLocks noGrp="1"/>
          </p:cNvSpPr>
          <p:nvPr/>
        </p:nvSpPr>
        <p:spPr>
          <a:xfrm>
            <a:off x="4695825" y="2343150"/>
            <a:ext cx="647700" cy="400050"/>
          </a:xfrm>
          <a:prstGeom prst="roundRect">
            <a:avLst>
              <a:gd name="adj" fmla="val 28571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159EC00-EC77-40B4-90E2-44AC1E10F8C7}"/>
              </a:ext>
            </a:extLst>
          </p:cNvPr>
          <p:cNvSpPr>
            <a:spLocks noGrp="1"/>
          </p:cNvSpPr>
          <p:nvPr/>
        </p:nvSpPr>
        <p:spPr>
          <a:xfrm>
            <a:off x="4695825" y="244792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Mean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A2A5152-D4EC-4B50-B5CE-D2ADB56D7EFF}"/>
              </a:ext>
            </a:extLst>
          </p:cNvPr>
          <p:cNvSpPr>
            <a:spLocks noGrp="1"/>
          </p:cNvSpPr>
          <p:nvPr/>
        </p:nvSpPr>
        <p:spPr>
          <a:xfrm>
            <a:off x="1038225" y="2857500"/>
            <a:ext cx="430530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D1CDBF2-C9B7-4624-B05A-524D252FD373}"/>
              </a:ext>
            </a:extLst>
          </p:cNvPr>
          <p:cNvSpPr>
            <a:spLocks noGrp="1"/>
          </p:cNvSpPr>
          <p:nvPr/>
        </p:nvSpPr>
        <p:spPr>
          <a:xfrm>
            <a:off x="1209675" y="29622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BLCNN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773E764-CEDC-4912-AD64-8B01E60CE5B9}"/>
              </a:ext>
            </a:extLst>
          </p:cNvPr>
          <p:cNvSpPr>
            <a:spLocks noGrp="1"/>
          </p:cNvSpPr>
          <p:nvPr/>
        </p:nvSpPr>
        <p:spPr>
          <a:xfrm>
            <a:off x="2333625" y="29622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71.48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A9A54FB-380A-41A3-B2BC-E0D4ED3D4F5C}"/>
              </a:ext>
            </a:extLst>
          </p:cNvPr>
          <p:cNvSpPr>
            <a:spLocks noGrp="1"/>
          </p:cNvSpPr>
          <p:nvPr/>
        </p:nvSpPr>
        <p:spPr>
          <a:xfrm>
            <a:off x="3095625" y="29622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66.75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3A3C10-CA7F-42BB-9D44-A03BF383BB8B}"/>
              </a:ext>
            </a:extLst>
          </p:cNvPr>
          <p:cNvSpPr>
            <a:spLocks noGrp="1"/>
          </p:cNvSpPr>
          <p:nvPr/>
        </p:nvSpPr>
        <p:spPr>
          <a:xfrm>
            <a:off x="3857625" y="29622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61.25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3FF168A-D563-4E3A-892E-1B3C991765E8}"/>
              </a:ext>
            </a:extLst>
          </p:cNvPr>
          <p:cNvSpPr>
            <a:spLocks noGrp="1"/>
          </p:cNvSpPr>
          <p:nvPr/>
        </p:nvSpPr>
        <p:spPr>
          <a:xfrm>
            <a:off x="4695825" y="29622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66.49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B080980D-B8EA-48AE-AA24-B732EA7D768F}"/>
              </a:ext>
            </a:extLst>
          </p:cNvPr>
          <p:cNvSpPr>
            <a:spLocks noGrp="1"/>
          </p:cNvSpPr>
          <p:nvPr/>
        </p:nvSpPr>
        <p:spPr>
          <a:xfrm>
            <a:off x="1038225" y="3352800"/>
            <a:ext cx="430530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FA3ED71-08B5-45C0-8A37-FF22D06E48AE}"/>
              </a:ext>
            </a:extLst>
          </p:cNvPr>
          <p:cNvSpPr>
            <a:spLocks noGrp="1"/>
          </p:cNvSpPr>
          <p:nvPr/>
        </p:nvSpPr>
        <p:spPr>
          <a:xfrm>
            <a:off x="1209675" y="34575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MLP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0C9CEB0-F062-4C95-8399-5E64354ABA1F}"/>
              </a:ext>
            </a:extLst>
          </p:cNvPr>
          <p:cNvSpPr>
            <a:spLocks noGrp="1"/>
          </p:cNvSpPr>
          <p:nvPr/>
        </p:nvSpPr>
        <p:spPr>
          <a:xfrm>
            <a:off x="2333625" y="34575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69.33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B7E338-BD87-484F-B16E-670EB17B795F}"/>
              </a:ext>
            </a:extLst>
          </p:cNvPr>
          <p:cNvSpPr>
            <a:spLocks noGrp="1"/>
          </p:cNvSpPr>
          <p:nvPr/>
        </p:nvSpPr>
        <p:spPr>
          <a:xfrm>
            <a:off x="3095625" y="34575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67.18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2FCD433-73F1-413B-9C3D-230D6B5EFBE9}"/>
              </a:ext>
            </a:extLst>
          </p:cNvPr>
          <p:cNvSpPr>
            <a:spLocks noGrp="1"/>
          </p:cNvSpPr>
          <p:nvPr/>
        </p:nvSpPr>
        <p:spPr>
          <a:xfrm>
            <a:off x="3857625" y="34575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55.24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9B11066-58EC-4BA5-A621-7A091706DCBA}"/>
              </a:ext>
            </a:extLst>
          </p:cNvPr>
          <p:cNvSpPr>
            <a:spLocks noGrp="1"/>
          </p:cNvSpPr>
          <p:nvPr/>
        </p:nvSpPr>
        <p:spPr>
          <a:xfrm>
            <a:off x="4695825" y="34575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63.92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49708003-C446-4204-BEDF-A507EC9AC417}"/>
              </a:ext>
            </a:extLst>
          </p:cNvPr>
          <p:cNvSpPr>
            <a:spLocks noGrp="1"/>
          </p:cNvSpPr>
          <p:nvPr/>
        </p:nvSpPr>
        <p:spPr>
          <a:xfrm>
            <a:off x="1038225" y="3848100"/>
            <a:ext cx="430530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D8B3BD-6131-48CE-A370-F8FEC851F924}"/>
              </a:ext>
            </a:extLst>
          </p:cNvPr>
          <p:cNvSpPr>
            <a:spLocks noGrp="1"/>
          </p:cNvSpPr>
          <p:nvPr/>
        </p:nvSpPr>
        <p:spPr>
          <a:xfrm>
            <a:off x="1209675" y="39528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Transformer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7729A08-801E-4BE4-AB92-FC4EB1C1DED4}"/>
              </a:ext>
            </a:extLst>
          </p:cNvPr>
          <p:cNvSpPr>
            <a:spLocks noGrp="1"/>
          </p:cNvSpPr>
          <p:nvPr/>
        </p:nvSpPr>
        <p:spPr>
          <a:xfrm>
            <a:off x="2333625" y="39528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65.81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F2D284E-AE7B-4EDF-BA99-BF8338ECCCE6}"/>
              </a:ext>
            </a:extLst>
          </p:cNvPr>
          <p:cNvSpPr>
            <a:spLocks noGrp="1"/>
          </p:cNvSpPr>
          <p:nvPr/>
        </p:nvSpPr>
        <p:spPr>
          <a:xfrm>
            <a:off x="3095625" y="39528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66.41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5BCDCA4-216B-4F03-9D97-103FEAD1D582}"/>
              </a:ext>
            </a:extLst>
          </p:cNvPr>
          <p:cNvSpPr>
            <a:spLocks noGrp="1"/>
          </p:cNvSpPr>
          <p:nvPr/>
        </p:nvSpPr>
        <p:spPr>
          <a:xfrm>
            <a:off x="3857625" y="39528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40.12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7D1137D-8FCD-4FC3-A249-D6165B79948D}"/>
              </a:ext>
            </a:extLst>
          </p:cNvPr>
          <p:cNvSpPr>
            <a:spLocks noGrp="1"/>
          </p:cNvSpPr>
          <p:nvPr/>
        </p:nvSpPr>
        <p:spPr>
          <a:xfrm>
            <a:off x="4695825" y="39528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57.45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2F242DB-C70F-4C48-A3F4-D6009C708CB3}"/>
              </a:ext>
            </a:extLst>
          </p:cNvPr>
          <p:cNvSpPr>
            <a:spLocks noGrp="1"/>
          </p:cNvSpPr>
          <p:nvPr/>
        </p:nvSpPr>
        <p:spPr>
          <a:xfrm>
            <a:off x="1038225" y="4343400"/>
            <a:ext cx="4305300" cy="381000"/>
          </a:xfrm>
          <a:prstGeom prst="roundRect">
            <a:avLst>
              <a:gd name="adj" fmla="val 25000"/>
            </a:avLst>
          </a:prstGeom>
          <a:solidFill>
            <a:srgbClr val="EAFBF6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FFC4484-972A-4907-A3DB-2DCED8D89A65}"/>
              </a:ext>
            </a:extLst>
          </p:cNvPr>
          <p:cNvSpPr>
            <a:spLocks noGrp="1"/>
          </p:cNvSpPr>
          <p:nvPr/>
        </p:nvSpPr>
        <p:spPr>
          <a:xfrm>
            <a:off x="1209675" y="44481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0C29F"/>
                </a:solidFill>
              </a:defRPr>
            </a:pPr>
            <a:r>
              <a:rPr sz="1200" b="1">
                <a:solidFill>
                  <a:srgbClr val="20C29F"/>
                </a:solidFill>
              </a:rPr>
              <a:t>BLFormer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7D2EE3D-80CB-4088-B10A-9385382446F4}"/>
              </a:ext>
            </a:extLst>
          </p:cNvPr>
          <p:cNvSpPr>
            <a:spLocks noGrp="1"/>
          </p:cNvSpPr>
          <p:nvPr/>
        </p:nvSpPr>
        <p:spPr>
          <a:xfrm>
            <a:off x="2333625" y="44481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71.82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89911A4-A55F-4031-AE51-2BD927DF8FE6}"/>
              </a:ext>
            </a:extLst>
          </p:cNvPr>
          <p:cNvSpPr>
            <a:spLocks noGrp="1"/>
          </p:cNvSpPr>
          <p:nvPr/>
        </p:nvSpPr>
        <p:spPr>
          <a:xfrm>
            <a:off x="3095625" y="444817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69.67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BBE33EA-D8EC-44DA-9F68-E9B5B76D47C4}"/>
              </a:ext>
            </a:extLst>
          </p:cNvPr>
          <p:cNvSpPr>
            <a:spLocks noGrp="1"/>
          </p:cNvSpPr>
          <p:nvPr/>
        </p:nvSpPr>
        <p:spPr>
          <a:xfrm>
            <a:off x="3857625" y="44481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67.10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D404DC4-52CB-4B3D-92A2-259C73E24B40}"/>
              </a:ext>
            </a:extLst>
          </p:cNvPr>
          <p:cNvSpPr>
            <a:spLocks noGrp="1"/>
          </p:cNvSpPr>
          <p:nvPr/>
        </p:nvSpPr>
        <p:spPr>
          <a:xfrm>
            <a:off x="4695825" y="44481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0C29F"/>
                </a:solidFill>
              </a:defRPr>
            </a:pPr>
            <a:r>
              <a:rPr sz="1200" b="1">
                <a:solidFill>
                  <a:srgbClr val="20C29F"/>
                </a:solidFill>
              </a:rPr>
              <a:t>69.53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964B08A-CE82-45D0-9A22-C49DF4CF51CE}"/>
              </a:ext>
            </a:extLst>
          </p:cNvPr>
          <p:cNvSpPr>
            <a:spLocks noGrp="1"/>
          </p:cNvSpPr>
          <p:nvPr/>
        </p:nvSpPr>
        <p:spPr>
          <a:xfrm>
            <a:off x="5867400" y="1238250"/>
            <a:ext cx="5638800" cy="110490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EE31BC-3CB9-4B98-890C-16602BD05F5E}"/>
              </a:ext>
            </a:extLst>
          </p:cNvPr>
          <p:cNvSpPr>
            <a:spLocks noGrp="1"/>
          </p:cNvSpPr>
          <p:nvPr/>
        </p:nvSpPr>
        <p:spPr>
          <a:xfrm>
            <a:off x="6038850" y="1409700"/>
            <a:ext cx="57150" cy="28575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8B132A0-BB2F-44CD-A1AD-518F71A2C505}"/>
              </a:ext>
            </a:extLst>
          </p:cNvPr>
          <p:cNvSpPr>
            <a:spLocks noGrp="1"/>
          </p:cNvSpPr>
          <p:nvPr/>
        </p:nvSpPr>
        <p:spPr>
          <a:xfrm>
            <a:off x="6286500" y="13906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Parameter footprint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6E58D2E-D8D4-45E0-A4DB-002DE758C157}"/>
              </a:ext>
            </a:extLst>
          </p:cNvPr>
          <p:cNvSpPr>
            <a:spLocks noGrp="1"/>
          </p:cNvSpPr>
          <p:nvPr/>
        </p:nvSpPr>
        <p:spPr>
          <a:xfrm>
            <a:off x="6153150" y="1771650"/>
            <a:ext cx="514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B7083"/>
                </a:solidFill>
              </a:defRPr>
            </a:pPr>
            <a:r>
              <a:rPr sz="1125" b="0">
                <a:solidFill>
                  <a:srgbClr val="5B7083"/>
                </a:solidFill>
              </a:rPr>
              <a:t>BLFormer 121k joint</a:t>
            </a:r>
          </a:p>
          <a:p>
            <a:pPr algn="l">
              <a:defRPr sz="1125" b="0">
                <a:solidFill>
                  <a:srgbClr val="5B7083"/>
                </a:solidFill>
              </a:defRPr>
            </a:pPr>
            <a:r>
              <a:rPr sz="1125" b="0">
                <a:solidFill>
                  <a:srgbClr val="5B7083"/>
                </a:solidFill>
              </a:rPr>
              <a:t>Others total: BLCNN 143k | MLP 155k | Transformer 160k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E6B4C258-A4B5-4748-9A8A-C22896436864}"/>
              </a:ext>
            </a:extLst>
          </p:cNvPr>
          <p:cNvSpPr>
            <a:spLocks noGrp="1"/>
          </p:cNvSpPr>
          <p:nvPr/>
        </p:nvSpPr>
        <p:spPr>
          <a:xfrm>
            <a:off x="790575" y="5734050"/>
            <a:ext cx="10725150" cy="581025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pic>
        <p:nvPicPr>
          <p:cNvPr id="102" name="图片 10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88501" y="2476500"/>
            <a:ext cx="3781085" cy="3095625"/>
          </a:xfrm>
          <a:prstGeom prst="rect">
            <a:avLst/>
          </a:prstGeom>
        </p:spPr>
      </p:pic>
      <p:sp>
        <p:nvSpPr>
          <p:cNvPr id="52" name="矩形 51">
            <a:extLst>
              <a:ext uri="{FF2B5EF4-FFF2-40B4-BE49-F238E27FC236}">
                <a16:creationId xmlns:a16="http://schemas.microsoft.com/office/drawing/2014/main" id="{66046961-D8FF-42A0-8B49-5F547F53AD86}"/>
              </a:ext>
            </a:extLst>
          </p:cNvPr>
          <p:cNvSpPr>
            <a:spLocks noGrp="1"/>
          </p:cNvSpPr>
          <p:nvPr/>
        </p:nvSpPr>
        <p:spPr>
          <a:xfrm>
            <a:off x="1057275" y="5838825"/>
            <a:ext cx="10191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2A43"/>
                </a:solidFill>
              </a:defRPr>
            </a:pPr>
            <a:r>
              <a:rPr sz="1200" b="0" dirty="0">
                <a:solidFill>
                  <a:srgbClr val="102A43"/>
                </a:solidFill>
              </a:rPr>
              <a:t>Training: </a:t>
            </a:r>
            <a:r>
              <a:rPr sz="1200" b="0" dirty="0" err="1">
                <a:solidFill>
                  <a:srgbClr val="102A43"/>
                </a:solidFill>
              </a:rPr>
              <a:t>AdamW</a:t>
            </a:r>
            <a:r>
              <a:rPr sz="1200" b="0" dirty="0">
                <a:solidFill>
                  <a:srgbClr val="102A43"/>
                </a:solidFill>
              </a:rPr>
              <a:t>, </a:t>
            </a:r>
            <a:r>
              <a:rPr sz="1200" b="0" dirty="0" err="1">
                <a:solidFill>
                  <a:srgbClr val="102A43"/>
                </a:solidFill>
              </a:rPr>
              <a:t>lr</a:t>
            </a:r>
            <a:r>
              <a:rPr sz="1200" b="0" dirty="0">
                <a:solidFill>
                  <a:srgbClr val="102A43"/>
                </a:solidFill>
              </a:rPr>
              <a:t> 3e-4, weight decay 0.01, batch size 64, cosine annealing, dropout 0.1, gradient clipping 1.0, early stopping patience 60, up to 400 epochs.</a:t>
            </a:r>
          </a:p>
        </p:txBody>
      </p:sp>
    </p:spTree>
    <p:extLst>
      <p:ext uri="{BB962C8B-B14F-4D97-AF65-F5344CB8AC3E}">
        <p14:creationId xmlns:p14="http://schemas.microsoft.com/office/powerpoint/2010/main" val="703104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85D838D-DC1F-49A3-B3A3-970623DE16E2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1714500" cy="76200"/>
          </a:xfrm>
          <a:prstGeom prst="rect">
            <a:avLst/>
          </a:prstGeom>
          <a:solidFill>
            <a:srgbClr val="007FC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264706A-8534-4946-B013-109DC13158AD}"/>
              </a:ext>
            </a:extLst>
          </p:cNvPr>
          <p:cNvSpPr>
            <a:spLocks noGrp="1"/>
          </p:cNvSpPr>
          <p:nvPr/>
        </p:nvSpPr>
        <p:spPr>
          <a:xfrm>
            <a:off x="2495550" y="342900"/>
            <a:ext cx="857250" cy="7620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8688ACB-BA5D-4392-A765-4737AE3906C3}"/>
              </a:ext>
            </a:extLst>
          </p:cNvPr>
          <p:cNvSpPr>
            <a:spLocks noGrp="1"/>
          </p:cNvSpPr>
          <p:nvPr/>
        </p:nvSpPr>
        <p:spPr>
          <a:xfrm>
            <a:off x="11029950" y="228600"/>
            <a:ext cx="400050" cy="400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821B6F-8A3F-4B57-AE60-8CCFA63967ED}"/>
              </a:ext>
            </a:extLst>
          </p:cNvPr>
          <p:cNvSpPr>
            <a:spLocks noGrp="1"/>
          </p:cNvSpPr>
          <p:nvPr/>
        </p:nvSpPr>
        <p:spPr>
          <a:xfrm>
            <a:off x="11058525" y="2952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07FC4"/>
                </a:solidFill>
              </a:defRPr>
            </a:pPr>
            <a:r>
              <a:rPr sz="1350" b="1">
                <a:solidFill>
                  <a:srgbClr val="007FC4"/>
                </a:solidFill>
              </a:rPr>
              <a:t>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DB7F365-6854-4C32-8DA8-6D07B46F9A20}"/>
              </a:ext>
            </a:extLst>
          </p:cNvPr>
          <p:cNvSpPr>
            <a:spLocks noGrp="1"/>
          </p:cNvSpPr>
          <p:nvPr/>
        </p:nvSpPr>
        <p:spPr>
          <a:xfrm>
            <a:off x="685800" y="6477000"/>
            <a:ext cx="10820400" cy="190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E471DB-6F7D-4402-910C-70F820B3D283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819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02A43"/>
                </a:solidFill>
              </a:defRPr>
            </a:pPr>
            <a:r>
              <a:rPr sz="2700" b="1" dirty="0">
                <a:solidFill>
                  <a:srgbClr val="102A43"/>
                </a:solidFill>
              </a:rPr>
              <a:t>Rare potted counts remain the main failure mode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217E61-4B57-410F-B723-FD8F13219F5D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953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7083"/>
                </a:solidFill>
              </a:defRPr>
            </a:pPr>
            <a:r>
              <a:rPr sz="1350" b="0" dirty="0">
                <a:solidFill>
                  <a:srgbClr val="5B7083"/>
                </a:solidFill>
              </a:rPr>
              <a:t>The final report confusion matrices show that the model is accurate on dominant classes but still weak on the long tail.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332868A-0714-4AA9-9F7F-096573781CC9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5810250" cy="34290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CA586D-CFD5-41B1-A583-9D76C7CEF8C2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342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A43"/>
                </a:solidFill>
              </a:defRPr>
            </a:pPr>
            <a:r>
              <a:rPr sz="1800" b="1" dirty="0">
                <a:solidFill>
                  <a:srgbClr val="102A43"/>
                </a:solidFill>
              </a:rPr>
              <a:t>Confusion matrices</a:t>
            </a: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" y="2451100"/>
            <a:ext cx="5483791" cy="2252895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428C19C-EB4E-478F-8E12-BDE5F8A98E01}"/>
              </a:ext>
            </a:extLst>
          </p:cNvPr>
          <p:cNvSpPr>
            <a:spLocks noGrp="1"/>
          </p:cNvSpPr>
          <p:nvPr/>
        </p:nvSpPr>
        <p:spPr>
          <a:xfrm>
            <a:off x="6896100" y="1676400"/>
            <a:ext cx="4610100" cy="1584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6430D19-674E-49EE-BCB0-16A7ACB376D8}"/>
              </a:ext>
            </a:extLst>
          </p:cNvPr>
          <p:cNvSpPr>
            <a:spLocks noGrp="1"/>
          </p:cNvSpPr>
          <p:nvPr/>
        </p:nvSpPr>
        <p:spPr>
          <a:xfrm>
            <a:off x="7067550" y="1847850"/>
            <a:ext cx="57150" cy="285750"/>
          </a:xfrm>
          <a:prstGeom prst="rect">
            <a:avLst/>
          </a:prstGeom>
          <a:solidFill>
            <a:srgbClr val="EC6F4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3D6BDD-C158-4656-8FFB-D1EBE29F5895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Observed failure modes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392E5E0-377A-464E-A53D-47FAA4791D41}"/>
              </a:ext>
            </a:extLst>
          </p:cNvPr>
          <p:cNvSpPr>
            <a:spLocks noGrp="1"/>
          </p:cNvSpPr>
          <p:nvPr/>
        </p:nvSpPr>
        <p:spPr>
          <a:xfrm>
            <a:off x="7086600" y="2171700"/>
            <a:ext cx="42291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Potted macro-F1 is only 0.338 even though exact accuracy reaches 67.10%.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The model never predicts class 9 on the held-out test split.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Win is noisy because many positive layouts still diverge later in the rack.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81FE437-7DDD-446F-A130-D7C8169E2F0F}"/>
              </a:ext>
            </a:extLst>
          </p:cNvPr>
          <p:cNvSpPr>
            <a:spLocks noGrp="1"/>
          </p:cNvSpPr>
          <p:nvPr/>
        </p:nvSpPr>
        <p:spPr>
          <a:xfrm>
            <a:off x="6896100" y="3445200"/>
            <a:ext cx="4610100" cy="1584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705256-8C82-47A8-BA81-82BE8C9C8A89}"/>
              </a:ext>
            </a:extLst>
          </p:cNvPr>
          <p:cNvSpPr>
            <a:spLocks noGrp="1"/>
          </p:cNvSpPr>
          <p:nvPr/>
        </p:nvSpPr>
        <p:spPr>
          <a:xfrm>
            <a:off x="7067550" y="3616650"/>
            <a:ext cx="57150" cy="285750"/>
          </a:xfrm>
          <a:prstGeom prst="rect">
            <a:avLst/>
          </a:prstGeom>
          <a:solidFill>
            <a:srgbClr val="20C29F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C06C16B-1C4D-4B2E-ADD2-50425E2E7519}"/>
              </a:ext>
            </a:extLst>
          </p:cNvPr>
          <p:cNvSpPr>
            <a:spLocks noGrp="1"/>
          </p:cNvSpPr>
          <p:nvPr/>
        </p:nvSpPr>
        <p:spPr>
          <a:xfrm>
            <a:off x="7239000" y="35976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Evaluation limits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D7906AD-C848-4627-B98E-282AFA6DC2E8}"/>
              </a:ext>
            </a:extLst>
          </p:cNvPr>
          <p:cNvSpPr>
            <a:spLocks noGrp="1"/>
          </p:cNvSpPr>
          <p:nvPr/>
        </p:nvSpPr>
        <p:spPr>
          <a:xfrm>
            <a:off x="7086600" y="3940500"/>
            <a:ext cx="42291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Internal model selection uses only 660 train and 116 validation samples.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The report is based on one fixed split rather than multi-seed confidence intervals.</a:t>
            </a:r>
          </a:p>
          <a:p>
            <a:pPr algn="l">
              <a:defRPr sz="1275" b="0">
                <a:solidFill>
                  <a:srgbClr val="5B7083"/>
                </a:solidFill>
              </a:defRPr>
            </a:pPr>
            <a:r>
              <a:rPr sz="1275" b="0">
                <a:solidFill>
                  <a:srgbClr val="5B7083"/>
                </a:solidFill>
              </a:rPr>
              <a:t>- Class 9 appears only four times in the full cleaned dataset.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E5DA8DF4-92C4-4A48-8938-B302D0080A12}"/>
              </a:ext>
            </a:extLst>
          </p:cNvPr>
          <p:cNvSpPr>
            <a:spLocks noGrp="1"/>
          </p:cNvSpPr>
          <p:nvPr/>
        </p:nvSpPr>
        <p:spPr>
          <a:xfrm>
            <a:off x="781050" y="5334000"/>
            <a:ext cx="10725150" cy="1009650"/>
          </a:xfrm>
          <a:prstGeom prst="roundRect">
            <a:avLst>
              <a:gd name="adj" fmla="val 22222"/>
            </a:avLst>
          </a:prstGeom>
          <a:solidFill>
            <a:srgbClr val="EAF6FC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441635C-9F83-4FC5-8D8D-2BB141ABDD98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215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02A43"/>
                </a:solidFill>
              </a:defRPr>
            </a:pPr>
            <a:r>
              <a:rPr sz="1500" b="1" dirty="0">
                <a:solidFill>
                  <a:srgbClr val="102A43"/>
                </a:solidFill>
              </a:rPr>
              <a:t>What should come next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E80C433-22AC-458A-970D-D191934375AD}"/>
              </a:ext>
            </a:extLst>
          </p:cNvPr>
          <p:cNvSpPr>
            <a:spLocks noGrp="1"/>
          </p:cNvSpPr>
          <p:nvPr/>
        </p:nvSpPr>
        <p:spPr>
          <a:xfrm>
            <a:off x="2876550" y="5524500"/>
            <a:ext cx="8191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02A43"/>
                </a:solidFill>
              </a:defRPr>
            </a:pPr>
            <a:r>
              <a:rPr sz="1400" b="0" dirty="0">
                <a:solidFill>
                  <a:srgbClr val="102A43"/>
                </a:solidFill>
              </a:rPr>
              <a:t>Add multi-seed confidence intervals, calibrate rare potted classes, and test stronger imbalance-aware objectives.</a:t>
            </a:r>
            <a:endParaRPr lang="en-US" sz="1400" b="0" dirty="0">
              <a:solidFill>
                <a:srgbClr val="102A43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200" b="0">
                <a:solidFill>
                  <a:srgbClr val="102A43"/>
                </a:solidFill>
              </a:defRPr>
            </a:pPr>
            <a:r>
              <a:rPr lang="en-US" sz="1400" dirty="0">
                <a:solidFill>
                  <a:srgbClr val="102A43"/>
                </a:solidFill>
              </a:rPr>
              <a:t>Hitting plan to win the game base on ball layout</a:t>
            </a:r>
            <a:endParaRPr sz="1400" b="0" dirty="0">
              <a:solidFill>
                <a:srgbClr val="102A4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56864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878</Words>
  <Application>Microsoft Office PowerPoint</Application>
  <DocSecurity>0</DocSecurity>
  <PresentationFormat>宽屏</PresentationFormat>
  <Paragraphs>192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HL8864</cp:lastModifiedBy>
  <cp:revision>23</cp:revision>
  <dcterms:created xsi:type="dcterms:W3CDTF">2026-07-07T05:37:50Z</dcterms:created>
  <dcterms:modified xsi:type="dcterms:W3CDTF">2026-07-07T07:30:32Z</dcterms:modified>
</cp:coreProperties>
</file>