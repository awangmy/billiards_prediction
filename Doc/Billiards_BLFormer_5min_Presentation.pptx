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6722bfed5446d" /><Relationship Type="http://schemas.openxmlformats.org/officeDocument/2006/relationships/extended-properties" Target="/docProps/app.xml" Id="R0818df3c52064e91" /><Relationship Type="http://schemas.openxmlformats.org/officeDocument/2006/relationships/officeDocument" Target="/ppt/presentation.xml" Id="R284cfec0aed4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de8656e45341c3"/>
  </p:sldMasterIdLst>
  <p:notesMasterIdLst>
    <p:notesMasterId xmlns:r="http://schemas.openxmlformats.org/officeDocument/2006/relationships" r:id="R6f9b974d00764d5e"/>
  </p:notesMasterIdLst>
  <p:sldIdLst>
    <p:sldId xmlns:r="http://schemas.openxmlformats.org/officeDocument/2006/relationships" id="256" r:id="R6cd2541d17bd4395"/>
    <p:sldId xmlns:r="http://schemas.openxmlformats.org/officeDocument/2006/relationships" id="257" r:id="R6cdf79f5c5df4b25"/>
    <p:sldId xmlns:r="http://schemas.openxmlformats.org/officeDocument/2006/relationships" id="258" r:id="R5979f5cbb93540c1"/>
    <p:sldId xmlns:r="http://schemas.openxmlformats.org/officeDocument/2006/relationships" id="259" r:id="Ra85f084605f4445f"/>
    <p:sldId xmlns:r="http://schemas.openxmlformats.org/officeDocument/2006/relationships" id="260" r:id="R76600b4b0aca4fee"/>
    <p:sldId xmlns:r="http://schemas.openxmlformats.org/officeDocument/2006/relationships" id="261" r:id="Rbd606c08b8d84096"/>
    <p:sldId xmlns:r="http://schemas.openxmlformats.org/officeDocument/2006/relationships" id="262" r:id="R3604d3a97c494e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c4b134ca3480b" /><Relationship Type="http://schemas.openxmlformats.org/officeDocument/2006/relationships/slideMaster" Target="/ppt/slideMasters/slideMaster1.xml" Id="R3cde8656e45341c3" /><Relationship Type="http://schemas.openxmlformats.org/officeDocument/2006/relationships/notesMaster" Target="/ppt/notesMasters/notesMaster1.xml" Id="R6f9b974d00764d5e" /><Relationship Type="http://schemas.openxmlformats.org/officeDocument/2006/relationships/presProps" Target="/ppt/presProps.xml" Id="R438a547f80404fed" /><Relationship Type="http://schemas.openxmlformats.org/officeDocument/2006/relationships/tableStyles" Target="/ppt/tableStyles.xml" Id="R96d84c9b83c7481a" /><Relationship Type="http://schemas.openxmlformats.org/officeDocument/2006/relationships/slide" Target="/ppt/slides/slide1.xml" Id="R6cd2541d17bd4395" /><Relationship Type="http://schemas.openxmlformats.org/officeDocument/2006/relationships/slide" Target="/ppt/slides/slide2.xml" Id="R6cdf79f5c5df4b25" /><Relationship Type="http://schemas.openxmlformats.org/officeDocument/2006/relationships/slide" Target="/ppt/slides/slide3.xml" Id="R5979f5cbb93540c1" /><Relationship Type="http://schemas.openxmlformats.org/officeDocument/2006/relationships/slide" Target="/ppt/slides/slide4.xml" Id="Ra85f084605f4445f" /><Relationship Type="http://schemas.openxmlformats.org/officeDocument/2006/relationships/slide" Target="/ppt/slides/slide5.xml" Id="R76600b4b0aca4fee" /><Relationship Type="http://schemas.openxmlformats.org/officeDocument/2006/relationships/slide" Target="/ppt/slides/slide6.xml" Id="Rbd606c08b8d84096" /><Relationship Type="http://schemas.openxmlformats.org/officeDocument/2006/relationships/slide" Target="/ppt/slides/slide7.xml" Id="R3604d3a97c494e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1c2f0a3d78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75ad656b48495e" /><Relationship Type="http://schemas.openxmlformats.org/officeDocument/2006/relationships/notesMaster" Target="/ppt/notesMasters/notesMaster1.xml" Id="R8145cdd84b4641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d6e9ec274641a1" /><Relationship Type="http://schemas.openxmlformats.org/officeDocument/2006/relationships/notesMaster" Target="/ppt/notesMasters/notesMaster1.xml" Id="R427c2995780146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575dea046044d0" /><Relationship Type="http://schemas.openxmlformats.org/officeDocument/2006/relationships/notesMaster" Target="/ppt/notesMasters/notesMaster1.xml" Id="R59a234d053be41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f9c85ef6c348da" /><Relationship Type="http://schemas.openxmlformats.org/officeDocument/2006/relationships/notesMaster" Target="/ppt/notesMasters/notesMaster1.xml" Id="Recb293b9951c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3ba400be34990" /><Relationship Type="http://schemas.openxmlformats.org/officeDocument/2006/relationships/notesMaster" Target="/ppt/notesMasters/notesMaster1.xml" Id="Rf89b5e0817724c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5338aacc1e4e50" /><Relationship Type="http://schemas.openxmlformats.org/officeDocument/2006/relationships/notesMaster" Target="/ppt/notesMasters/notesMaster1.xml" Id="R5282e9b54f6744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177e61042e4feb" /><Relationship Type="http://schemas.openxmlformats.org/officeDocument/2006/relationships/notesMaster" Target="/ppt/notesMasters/notesMaster1.xml" Id="R64da6c83ba27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5f0574046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f57d2ddc64063" /><Relationship Type="http://schemas.openxmlformats.org/officeDocument/2006/relationships/slideLayout" Target="/ppt/slideLayouts/slideLayout1.xml" Id="Re416dcbfcd0c47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6dcbfcd0c47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72667b68047ea" /><Relationship Type="http://schemas.openxmlformats.org/officeDocument/2006/relationships/notesSlide" Target="/ppt/notesSlides/notesSlide1.xml" Id="R97b9cc9e4ba9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0dbafb51e4682" /><Relationship Type="http://schemas.openxmlformats.org/officeDocument/2006/relationships/notesSlide" Target="/ppt/notesSlides/notesSlide2.xml" Id="R8c841089183e44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d69ca88264a37" /><Relationship Type="http://schemas.openxmlformats.org/officeDocument/2006/relationships/notesSlide" Target="/ppt/notesSlides/notesSlide3.xml" Id="R7bdf6e68295443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3d60e753a4009" /><Relationship Type="http://schemas.openxmlformats.org/officeDocument/2006/relationships/notesSlide" Target="/ppt/notesSlides/notesSlide4.xml" Id="R000c923acc6a43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9e8cf8dba4938" /><Relationship Type="http://schemas.openxmlformats.org/officeDocument/2006/relationships/notesSlide" Target="/ppt/notesSlides/notesSlide5.xml" Id="Rf0465ee28ec44a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15c913dce4c40" /><Relationship Type="http://schemas.openxmlformats.org/officeDocument/2006/relationships/image" Target="/ppt/media/image.png" Id="R3a8d1c8d687445c9" /><Relationship Type="http://schemas.openxmlformats.org/officeDocument/2006/relationships/notesSlide" Target="/ppt/notesSlides/notesSlide6.xml" Id="R78a0c42705804b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76ba3c8b3459d" /><Relationship Type="http://schemas.openxmlformats.org/officeDocument/2006/relationships/image" Target="/ppt/media/image2.png" Id="R95199b176ce84b55" /><Relationship Type="http://schemas.openxmlformats.org/officeDocument/2006/relationships/notesSlide" Target="/ppt/notesSlides/notesSlide7.xml" Id="Rac127ae617f647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E0C4C-D757-4292-80FA-CFCC3AAA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AEF47-EE90-47E1-9D35-1A14154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981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823CE-7DF7-46BC-90F1-F4A1618C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3400"/>
            <a:ext cx="990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A63BC-7E3A-4F00-AD29-7F6EBBA1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BLFormer improves</a:t>
            </a:r>
          </a:p>
          <a:p xmlns:a="http://schemas.openxmlformats.org/drawingml/2006/main">
            <a:pPr algn="l"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billiards break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126D3-D9BC-4A15-8888-11D44565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7083"/>
                </a:solidFill>
              </a:defRPr>
            </a:pPr>
            <a:r>
              <a:rPr sz="1800" b="0">
                <a:solidFill>
                  <a:srgbClr val="5B7083"/>
                </a:solidFill>
              </a:rPr>
              <a:t>A geometry-aware joint set transformer for clear, win, and potted-count prediction from table layouts.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8DC44-3646-4E18-B0C0-7992DBE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2F930-317E-4948-AB15-0BCE92A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FC4"/>
                </a:solidFill>
              </a:defRPr>
            </a:pPr>
            <a:r>
              <a:rPr sz="1050" b="1">
                <a:solidFill>
                  <a:srgbClr val="007FC4"/>
                </a:solidFill>
              </a:rPr>
              <a:t>5-minute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7FE85-F82A-44F0-8AC1-F81152D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EAFB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0B160-9F90-409A-8D30-EF5A6951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C29F"/>
                </a:solidFill>
              </a:defRPr>
            </a:pPr>
            <a:r>
              <a:rPr sz="1050" b="1">
                <a:solidFill>
                  <a:srgbClr val="20C29F"/>
                </a:solidFill>
              </a:rPr>
              <a:t>Held-out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1E164-AF26-4115-98A9-4E191A99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352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DB"/>
          </a:solidFill>
          <a:ln xmlns:a="http://schemas.openxmlformats.org/drawingml/2006/main" w="9525">
            <a:solidFill>
              <a:srgbClr val="FFF7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87A70-DB28-4B9F-AD91-B4E73E5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500"/>
                </a:solidFill>
              </a:defRPr>
            </a:pPr>
            <a:r>
              <a:rPr sz="1050" b="1">
                <a:solidFill>
                  <a:srgbClr val="8A6500"/>
                </a:solidFill>
              </a:rPr>
              <a:t>Joint prediction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A073E-D7F6-4D34-88BF-3BB4ECE3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Project overview, methodology, results, and challenges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184E6-E801-4E2E-BC58-0ABC7D31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3352800" cy="4114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7EF08-BA42-4601-BC31-6F742BAB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295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Why this model family fits the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6487D-6073-4D14-8E75-E83C994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26860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D3030-A36F-45D7-B2AF-DF99545C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7167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FC4"/>
                </a:solidFill>
              </a:defRPr>
            </a:pPr>
            <a:r>
              <a:rPr sz="1425" b="1">
                <a:solidFill>
                  <a:srgbClr val="007FC4"/>
                </a:solidFill>
              </a:rPr>
              <a:t>Object-set 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91DF5-64E8-44AD-A729-DF641D2A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26860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EAFB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6A3E5-1699-4306-86CD-6948583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032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C29F"/>
                </a:solidFill>
              </a:defRPr>
            </a:pPr>
            <a:r>
              <a:rPr sz="1425" b="1">
                <a:solidFill>
                  <a:srgbClr val="20C29F"/>
                </a:solidFill>
              </a:rPr>
              <a:t>Geometry-biased attention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F53B3-883F-4660-8D69-378F3D4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26860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9525">
            <a:solidFill>
              <a:srgbClr val="FDF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969FA-5F0A-4370-A52D-93972593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28975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C6F45"/>
                </a:solidFill>
              </a:defRPr>
            </a:pPr>
            <a:r>
              <a:rPr sz="1425" b="1">
                <a:solidFill>
                  <a:srgbClr val="EC6F45"/>
                </a:solidFill>
              </a:rPr>
              <a:t>Joint 40-state head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11304-AA37-4CC5-8820-A1A9CD5C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862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D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6C99A-14CB-4D83-9684-60DB77D6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6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97E52-746C-4A77-9D37-0C28921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14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A14BF-14EB-42EF-8453-4405678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083"/>
                </a:solidFill>
              </a:defRPr>
            </a:pPr>
            <a:r>
              <a:rPr sz="900" b="0">
                <a:solidFill>
                  <a:srgbClr val="5B7083"/>
                </a:solidFill>
              </a:rPr>
              <a:t>GVLab palette adapted from the provided template</a:t>
            </a:r>
          </a:p>
        </p:txBody>
      </p:sp>
    </p:spTree>
    <p:extLst>
      <p:ext uri="{BB962C8B-B14F-4D97-AF65-F5344CB8AC3E}">
        <p14:creationId xmlns:p14="http://schemas.microsoft.com/office/powerpoint/2010/main" val="224930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6AEFC-E682-4FA0-87D4-358C3A98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7EDE0-0A8E-4F5F-8AF3-5792F539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7A9DB-3972-44BB-9BE8-347B1B7A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F7DA2-26D2-4EB7-9C57-2C7F018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952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FC4"/>
                </a:solidFill>
              </a:defRPr>
            </a:pPr>
            <a:r>
              <a:rPr sz="1350" b="1">
                <a:solidFill>
                  <a:srgbClr val="007FC4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D8AC1-3870-41AB-9FE9-014DC4D7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00558-87E4-41A8-A881-6F73F1E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task is to read a post-break layout, not an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67D12-E5A3-47F2-B2FD-2CBEBFF2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Break-shot prediction is a small-data physical reasoning problem with three coupled outputs.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FEB95-A722-4FC0-BB2C-74C4A8E0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49580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8F78"/>
          </a:solidFill>
          <a:ln xmlns:a="http://schemas.openxmlformats.org/drawingml/2006/main" w="19050">
            <a:solidFill>
              <a:srgbClr val="1769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2907A-B803-4CCD-8680-8EB354A6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152900" cy="2228850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2CB698"/>
          </a:solidFill>
          <a:ln xmlns:a="http://schemas.openxmlformats.org/drawingml/2006/main" w="14288">
            <a:solidFill>
              <a:srgbClr val="C8FF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4F08-76A3-4008-8251-38DD0CF6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34DC0-2E86-4036-88E4-43264100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6B3F5-DA7C-458B-9B08-10437C16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D85CB-4DED-427A-9D44-19F7315B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38861-6DC4-488B-801A-5F2141BB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55445-D6AF-4BAC-809E-8937B524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6FBD4-9472-4C0E-B193-0BCD5F9A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14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D0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16714-BE13-4BC4-8A2C-0851891A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31965-9D3E-43F7-AEAB-8E534A4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6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04A29-EE33-4283-977E-724C0519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71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65E97-5132-4D20-824B-6807C400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67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AAB8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EE833-94E7-4F7B-8E19-CEFB5B7B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76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D0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63994-CE73-49B7-AFB6-B6FBBE74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6F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72A1F-C0B2-4E64-BF1A-2196419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1A22A-41AF-4E4F-90CE-C924CB11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Observed layout after the break 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497CF-FE93-4D97-A871-59A4E482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87630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7D06F-04DE-4250-A098-BA7D1B37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71650"/>
            <a:ext cx="18478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D1377-4B20-4FCD-8187-58A0BF4D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FC4"/>
                </a:solidFill>
              </a:defRPr>
            </a:pPr>
            <a:r>
              <a:rPr sz="1650" b="1">
                <a:solidFill>
                  <a:srgbClr val="007FC4"/>
                </a:solidFill>
              </a:rPr>
              <a:t>Clear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4A4BE-68D1-4C27-A574-EF8D8D5B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7083"/>
                </a:solidFill>
              </a:defRPr>
            </a:pPr>
            <a:r>
              <a:rPr sz="1050" b="0">
                <a:solidFill>
                  <a:srgbClr val="5B7083"/>
                </a:solidFill>
              </a:rPr>
              <a:t>rack cleared or not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FCE96-19FC-4F29-ACB7-AB06576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18478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0C224-0365-4383-817B-9FABC284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8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C29F"/>
                </a:solidFill>
              </a:defRPr>
            </a:pPr>
            <a:r>
              <a:rPr sz="1650" b="1">
                <a:solidFill>
                  <a:srgbClr val="20C29F"/>
                </a:solidFill>
              </a:rPr>
              <a:t>Win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BC51D-C78F-40B1-A9BA-C5EFC868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7083"/>
                </a:solidFill>
              </a:defRPr>
            </a:pPr>
            <a:r>
              <a:rPr sz="1050" b="0">
                <a:solidFill>
                  <a:srgbClr val="5B7083"/>
                </a:solidFill>
              </a:rPr>
              <a:t>match win or not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66F07-B836-4D36-AABB-6EFFE68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8478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7DB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7277E-239B-4E7D-90EC-75D128D7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6500"/>
                </a:solidFill>
              </a:defRPr>
            </a:pPr>
            <a:r>
              <a:rPr sz="1650" b="1">
                <a:solidFill>
                  <a:srgbClr val="8A6500"/>
                </a:solidFill>
              </a:rPr>
              <a:t>Potted count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74D05D-A4B0-4C84-984B-8DD56181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7083"/>
                </a:solidFill>
              </a:defRPr>
            </a:pPr>
            <a:r>
              <a:rPr sz="1050" b="0">
                <a:solidFill>
                  <a:srgbClr val="5B7083"/>
                </a:solidFill>
              </a:rPr>
              <a:t>0 to 9 balls after break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3C8409-CA90-43AC-BE35-CC85B983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6289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B8BF28-C99C-4812-80BD-54FE6399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8CA7BC-890D-4AAD-937D-79BA6EBD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288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Dataset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F131B-8B05-4719-8764-42BF6D11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24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- 1,940 accepted post-break layouts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- 776 train and 1,164 held-out test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- 6 to 10 active balls per scene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1C8415-42DC-474A-9B9F-6AF62C0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62300"/>
            <a:ext cx="26289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AD110-9885-4111-89A2-249CB2F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6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EF8C1E-DF02-4008-80DB-3D68E6D2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Why it is hard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5F3CCB-CBF0-471E-814D-FF4E8293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57600"/>
            <a:ext cx="224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The scene is unordered and relational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Labels are correlated rather than independent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Potted-count classes are heavily imbalanced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450EBE-81F8-4BFD-9E14-E016854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The model sees a set of objects,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not a stable image raster.</a:t>
            </a:r>
          </a:p>
        </p:txBody>
      </p:sp>
    </p:spTree>
    <p:extLst>
      <p:ext uri="{BB962C8B-B14F-4D97-AF65-F5344CB8AC3E}">
        <p14:creationId xmlns:p14="http://schemas.microsoft.com/office/powerpoint/2010/main" val="1655138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B17F9-FF77-4AA2-B683-70A84AE7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CB669-7645-4633-B3D6-839F3B2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7411F-44BF-4A55-B803-9AD6AEB0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35718-91CA-4A5D-B522-6361EDA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952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FC4"/>
                </a:solidFill>
              </a:defRPr>
            </a:pPr>
            <a:r>
              <a:rPr sz="1350" b="1">
                <a:solidFill>
                  <a:srgbClr val="007FC4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77F1E-DB4F-4532-8CCE-EAE0D17E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530B6-C260-490F-B01A-6DF934EB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From raw sheet/XML to one clean table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C47C9-F3D8-4CF9-89E1-5D6503C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The model sees only the filtered, normalized object set after alignment and packing.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8EF92-5F09-4A3B-BD5D-D91FAA29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0005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701E2-8EB4-47CC-8303-3DA7896E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Raw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83B2F-E511-4907-9680-6E154F5E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83"/>
                </a:solidFill>
              </a:defRPr>
            </a:pPr>
            <a:r>
              <a:rPr sz="1125" b="0">
                <a:solidFill>
                  <a:srgbClr val="5B7083"/>
                </a:solidFill>
              </a:rPr>
              <a:t>Variables.xlsx stores outcomes and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661BB-90CD-4E19-ADA3-83E7B1C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57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437D9-6D13-457E-8C9D-938B8F65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A2C82-AB84-4C6D-AFD9-37E663C7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574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82B5D-2474-48B3-847F-07FD147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Potted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2EA61-E8AF-4B33-AE9C-F7EFADB8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574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7A574-DC60-4936-834C-E81B1C73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Clear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B042E-C885-408B-AA88-CA2A2509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B79B3-3778-4F20-9E23-1A81BFE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33650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Win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83D92-140C-4C35-AFE1-8BE11265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57450"/>
            <a:ext cx="704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5CB19-A097-4E4B-9D3D-AA05FF7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Remarks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31627-BB2E-4E4E-BC94-16EFC7B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524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19167-B22A-4116-816B-EB18BE16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F06B6-2E26-4B24-B9DF-D0053F8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479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B4E88-AF96-4DFB-BE39-1495E091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47975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9B554-5967-43F5-9342-214E91E9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2CE86-87A2-44FF-8536-F23202E5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47975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3D3B4-F59F-4ED8-9B0C-7FFCABE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524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F132E9-5172-494C-A21E-D462209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7182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8AC95-66B1-4555-91C7-50DABC3E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7182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E037E-A95E-40AC-9DB8-5C7070E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EA1C2-F7CA-4738-B5F4-CFD07D5F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71825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AC154-37AB-4108-9FC4-29BA7D69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71825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C57F71-1325-4863-9F82-462B8D4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524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6F12F0-5E5E-44B0-883F-7255069C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567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187E9D-CFB6-4BD6-8D4D-B340BBBC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956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30333A-36E7-4423-A75D-2F5F5B6F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95675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BF5CD7-D2DB-451E-89C9-3E029D8F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95675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3F42B5-EFE4-46FF-80C1-1E158CFF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95675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C6F45"/>
                </a:solidFill>
              </a:defRPr>
            </a:pPr>
            <a:r>
              <a:rPr sz="900" b="1">
                <a:solidFill>
                  <a:srgbClr val="EC6F45"/>
                </a:solidFill>
              </a:rPr>
              <a:t>foul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8701F7-B2BA-40B5-8206-EF64C54A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3524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AE12C3-9C32-4813-83B3-A776B9D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A00F72-AFE6-4AC8-91B0-7B0E1A9D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952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6A169-8750-4D7C-A1BB-711FBBBB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9525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3D5B15-1714-49BB-914F-6ACD90DD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9525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C568F1-16B3-4466-8FED-3298B91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19525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C6F45"/>
                </a:solidFill>
              </a:defRPr>
            </a:pPr>
            <a:r>
              <a:rPr sz="900" b="1">
                <a:solidFill>
                  <a:srgbClr val="EC6F45"/>
                </a:solidFill>
              </a:rPr>
              <a:t>duplicate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13C9FF-8588-4108-895F-DD517CB3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3524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46F314-0075-4E6F-A74E-979F60B5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Frame 1.xml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361281-2384-4D53-84C6-404DFFD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&lt;ball id="2" x="137.2" y="64.8"/&gt;</a:t>
            </a:r>
          </a:p>
          <a:p xmlns:a="http://schemas.openxmlformats.org/drawingml/2006/main">
            <a:pPr algn="l"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&lt;ball id="9" x="95.1" y="17.3"/&gt;  orientation=V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1A8D76-AD3E-4001-98FF-E9581EF8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819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E58F51-56F9-41E3-B73D-BFB58654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FC4"/>
                </a:solidFill>
              </a:defRPr>
            </a:pPr>
            <a:r>
              <a:rPr sz="1125" b="1">
                <a:solidFill>
                  <a:srgbClr val="007FC4"/>
                </a:solidFill>
              </a:rPr>
              <a:t>align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ABD4C0-BCC9-4768-BD1E-9081B61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2095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8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8A0119-3BFD-4753-A4EA-CAC0BECE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819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927370-2C4F-4FDC-A15F-871E4850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C29F"/>
                </a:solidFill>
              </a:defRPr>
            </a:pPr>
            <a:r>
              <a:rPr sz="1125" b="1">
                <a:solidFill>
                  <a:srgbClr val="20C29F"/>
                </a:solidFill>
              </a:rPr>
              <a:t>filter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2589DC-72A3-40CD-BD74-8995CE76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81350"/>
            <a:ext cx="2095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8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D96BD0-3494-4082-87A4-33D6474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819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DB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B46219-EB67-4000-9E37-92EDD1A8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6500"/>
                </a:solidFill>
              </a:defRPr>
            </a:pPr>
            <a:r>
              <a:rPr sz="1125" b="1">
                <a:solidFill>
                  <a:srgbClr val="8A6500"/>
                </a:solidFill>
              </a:rPr>
              <a:t>normalize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8975AB-411A-41E2-9E6D-ED325E3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90950"/>
            <a:ext cx="2095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8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6C6FF8-2993-49B8-BA98-134DCEA7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819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A754BD-3EA1-400D-AA2F-A58B3F88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C6F45"/>
                </a:solidFill>
              </a:defRPr>
            </a:pPr>
            <a:r>
              <a:rPr sz="1125" b="1">
                <a:solidFill>
                  <a:srgbClr val="EC6F45"/>
                </a:solidFill>
              </a:rPr>
              <a:t>pack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848814-A824-4AC3-BB94-884B744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4102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6B4D2F-565C-4ACC-893B-C46C085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Clean model input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619A19-BBB8-4436-B6FB-7A2D8BF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83"/>
                </a:solidFill>
              </a:defRPr>
            </a:pPr>
            <a:r>
              <a:rPr sz="1125" b="0">
                <a:solidFill>
                  <a:srgbClr val="5B7083"/>
                </a:solidFill>
              </a:rPr>
              <a:t>One accepted post-break state, normalized to [0,1], then packed as tokens.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B552EE-51E9-4772-86C8-67BED18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676400" cy="20383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A7B00"/>
          </a:solidFill>
          <a:ln xmlns:a="http://schemas.openxmlformats.org/drawingml/2006/main" w="11430">
            <a:solidFill>
              <a:srgbClr val="5666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D5A0BD-1272-4EDB-B8E5-0F7215C1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1371600" cy="17335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9150"/>
          </a:solidFill>
          <a:ln xmlns:a="http://schemas.openxmlformats.org/drawingml/2006/main" w="9525">
            <a:solidFill>
              <a:srgbClr val="0B915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FD8FAB-0B47-40ED-B7B6-997C36ED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1143000" cy="16573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6D0347-EA55-4C78-A125-715B3A20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E51E91-8ACC-411B-9235-D46E4EEE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A62C58-C6BB-44E9-9791-54E86BB5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C1A547-8A2A-4289-843C-A676E510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440F56-E19C-4749-AE11-8CA61534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7824EF-153E-470D-91EE-750B3F34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2653B5-52F8-4A7D-AEBD-39B253B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A4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816514-CCE7-4257-9222-C64D47E6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D01"/>
          </a:solidFill>
          <a:ln xmlns:a="http://schemas.openxmlformats.org/drawingml/2006/main" w="10478">
            <a:solidFill>
              <a:srgbClr val="8A65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FF7686-40B5-4DC1-A327-48AE3156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1465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CB2419-F1A8-4923-8C9E-5DE66A8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10478">
            <a:solidFill>
              <a:srgbClr val="0A4D7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1C2F15-DA96-4ED1-BC34-5584CE2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FEA66B-E2A7-48C2-87BC-23AB34B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B5B"/>
          </a:solidFill>
          <a:ln xmlns:a="http://schemas.openxmlformats.org/drawingml/2006/main" w="10478">
            <a:solidFill>
              <a:srgbClr val="B44A4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C996F4-5929-4433-BF8F-3E2F2C28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3385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28EFC0-01C4-4B77-81BB-CF20191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accepted post-break layout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22C2B9-52CB-490A-A9BA-5565533E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F823F0-C9E1-42B9-A00D-12CEAF6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362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A4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45F20D5-CDB0-489C-84DD-E466CFA3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7CA7FB0-6043-48F6-85B3-05A06641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D539B8-ED3E-4EC6-9EBE-A0AC728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3ADD6A-49E3-4AC0-A2A8-C27328F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E4F3E5-DE47-4B27-A898-A1520F55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69191C-50F0-4F0A-9EFB-329AF201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7D49F64-BB1D-4D5F-8CCB-C5226479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67A00D-4DD2-46B1-AF4F-15C60AB9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4955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299482-DA95-4B17-8BB5-5FFB2CBC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5F98DF1-0E31-4418-856A-276C2FD1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DDE0DE-9D5F-469D-9318-E76A37D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4F78EAC-BFA8-4D18-A7B0-04C6ECC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8F34E5A-6051-4342-A781-9EF3EF6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597A2F4-884D-44EB-ADAE-56ACEE70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494CAE-7FAE-47DF-9A69-5C58F214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11F398-FB87-435D-96AF-58D251AC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7432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EA1ABD2-E403-4F6F-8C79-ABE8875F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2B5467-D35F-4430-88A4-F9C3A8EF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7A3D007-3070-46B5-8687-83FA7933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A26FAE-B756-4D46-98C2-E9662427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3447E5-D227-4140-985D-950A330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BCE03D-896E-4A28-B006-C50A447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2FAB960-8733-4B29-BFEC-623BA46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F363A9-E1C0-4E41-A49A-1FC06524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9908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9EA5AC8-A582-4635-94A5-8ABBDF29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16E9EC-32DA-4689-81FA-AC9B97DF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0149D1D-DA9C-4AC8-B075-3972CB9B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28D15B8-8C21-4D9C-8BBE-E2D95E48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1BEC9CA-9EA3-4557-B331-7046AF21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5C703C3-5D75-446E-B9B5-972C2D1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A8A155C-781B-4DBF-B2A6-5760063F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18AF44-C457-41D3-AC73-41CE42CA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2385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2FBD836-9B28-4694-B43B-D377D28D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AA4783A-D3C5-463A-909A-CAB200B1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41DE76A-9A37-4B04-B486-96AC6633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9A2F95-746F-4041-8C14-787E4478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ED11FC6-D805-4D73-839D-334365B1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E039A18-F44A-4E91-A79C-2C7E5A9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2115DCB-CD67-4342-9C2C-492091CF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3EF5457-1C79-47AA-AF70-1EB9E49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48615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ED15A28-1B0C-482C-BCD8-B6F5AA8E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617C5F3-9E27-4475-A218-5067B01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3C9E75A-1BEC-4796-B594-185D265C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7BB29F1-81A7-4531-BE8D-C3149D51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84C1131-DDCF-430F-98A3-A3A55CFF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84FBDC-C15C-4108-BD26-9D54202C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B1DDD98-6686-412C-AAB5-86CC083E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0C740D2-CB7B-4E3F-8748-CBD62FF1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733800"/>
            <a:ext cx="295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8BBFDC-CE50-4631-979A-F1E83846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CLS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CD353AC-19E9-4EE5-AC53-2CAD14E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ball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84A4832-4509-47D4-9D34-3680BA9B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ball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EFF592B-98DF-43E0-AEA7-D33CD09D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&lt;pad&gt;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2E1471D-3268-417C-951B-8722236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pocket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7F73375-0E87-43BF-BD67-48D04007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pocket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40FA9A-E686-4886-A060-E66034BE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148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packed token matrix + attention mask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F33B0FC-6840-4E3B-923E-7155A6D1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7675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4C31677-5AE8-4E67-9CF0-FCEDFF9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33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FC4"/>
                </a:solidFill>
              </a:defRPr>
            </a:pPr>
            <a:r>
              <a:rPr sz="1050" b="1">
                <a:solidFill>
                  <a:srgbClr val="007FC4"/>
                </a:solidFill>
              </a:rPr>
              <a:t>x_norm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994DCD4-0988-4312-B862-B77C6F5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6BF2349-D3D7-44EE-BD57-D2B964CD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33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FC4"/>
                </a:solidFill>
              </a:defRPr>
            </a:pPr>
            <a:r>
              <a:rPr sz="1050" b="1">
                <a:solidFill>
                  <a:srgbClr val="007FC4"/>
                </a:solidFill>
              </a:rPr>
              <a:t>y_norm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07462D4-FCDE-4645-904F-4B7DFD4C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7675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EAFBF6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518187A-5B38-4416-9BB2-05DBD61D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33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C29F"/>
                </a:solidFill>
              </a:defRPr>
            </a:pPr>
            <a:r>
              <a:rPr sz="1050" b="1">
                <a:solidFill>
                  <a:srgbClr val="20C29F"/>
                </a:solidFill>
              </a:rPr>
              <a:t>exists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1DBF09E-1637-407F-9A4F-368FE16F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387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DB"/>
          </a:solidFill>
          <a:ln xmlns:a="http://schemas.openxmlformats.org/drawingml/2006/main" w="9525">
            <a:solidFill>
              <a:srgbClr val="FFF7DB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B1AC791-7F6D-4C14-A077-96957E50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95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500"/>
                </a:solidFill>
              </a:defRPr>
            </a:pPr>
            <a:r>
              <a:rPr sz="1050" b="1">
                <a:solidFill>
                  <a:srgbClr val="8A6500"/>
                </a:solidFill>
              </a:rPr>
              <a:t>ball_id / pocket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218F05E-C93E-4070-A6E1-9B0385AC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731D477-7914-47C0-A9DA-9C9913B4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FC4"/>
                </a:solidFill>
              </a:defRPr>
            </a:pPr>
            <a:r>
              <a:rPr sz="1050" b="1">
                <a:solidFill>
                  <a:srgbClr val="007FC4"/>
                </a:solidFill>
              </a:rPr>
              <a:t>1,940 layouts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6CEC735-82A5-4862-BCE7-FC4AFF7B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B5FF2B1-F58F-4FBD-A476-3C862B2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769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C29F"/>
                </a:solidFill>
              </a:defRPr>
            </a:pPr>
            <a:r>
              <a:rPr sz="1050" b="1">
                <a:solidFill>
                  <a:srgbClr val="20C29F"/>
                </a:solidFill>
              </a:rPr>
              <a:t>776 train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55F4ACF-9559-4575-969D-83FE19B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1975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FEED7A5-F6CB-48ED-92DB-C07542BA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769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500"/>
                </a:solidFill>
              </a:defRPr>
            </a:pPr>
            <a:r>
              <a:rPr sz="1050" b="1">
                <a:solidFill>
                  <a:srgbClr val="8A6500"/>
                </a:solidFill>
              </a:rPr>
              <a:t>1,164 test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E6DB3C4-F501-467D-8B0A-147F33FC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959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Rows with foul / illegal / duplicate markers are removed before any model sees them.</a:t>
            </a:r>
          </a:p>
        </p:txBody>
      </p:sp>
    </p:spTree>
    <p:extLst>
      <p:ext uri="{BB962C8B-B14F-4D97-AF65-F5344CB8AC3E}">
        <p14:creationId xmlns:p14="http://schemas.microsoft.com/office/powerpoint/2010/main" val="1435700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31E7E-F76D-400D-BAD2-2907613E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32405-F636-4588-A698-E9F7709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0B13D-B35A-42BF-8105-5DC8FCBC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733FE-C9A1-4858-94D5-B4449E6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952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FC4"/>
                </a:solidFill>
              </a:defRPr>
            </a:pPr>
            <a:r>
              <a:rPr sz="1350" b="1">
                <a:solidFill>
                  <a:srgbClr val="007FC4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A8B08-9A47-4C77-AFD5-CCA5F6D1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00E54-856D-47EE-B8D6-C52B35CE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BLFormer changes both representation and supervision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89ED2-D08D-4428-88AE-F965BAF6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It is built around scene structure and label coupling rather than generic token processing.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3C404-C2A5-4E15-A818-1CB76E87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30670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48524-446D-4996-9B48-87E89FC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A8F76-5467-48F7-AD39-431CB3CF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Where baselines 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9EC57-75DD-4105-8249-563B2E04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BLCNN treats layout tokens like a local convolutional sequence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MLP discards spatial interactions after flattening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Vanilla Transformer has no billiards-specific geometry bias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EE935-33D1-43EF-A04C-692A31EB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62100"/>
            <a:ext cx="7086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87EDE-F333-4FA1-B19B-74AF3AE3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7D31D-F3A5-4121-85F3-D95ED3B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811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DC13D-947C-4CE4-8C3C-D20CE7E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573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Tokenize only what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85095-8DFD-45A3-8B75-87BA849B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05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Active balls become variable-size tokens, six pockets are appended, and padding is masked away.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FFF58-F612-4E96-ABAD-B3AA034B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7086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E3C92-B5C2-48AA-AAA5-8A08DD2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52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4903F-B8D6-472C-9A5F-7F19AFD9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384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5F8FF-4601-4960-A7A0-64074E6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Inject geometry into attention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22D59-DACA-4CAD-88E8-E26507A5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Pairwise distance, dx, dy, angle, blocked path, and edge type become additive attention bias.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D3506-703B-4261-98AC-C9D99097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7086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7DB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EFA3B-47BB-413A-8260-755369B0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7A18C-F17E-4798-8308-4CE30900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95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3A458-1DD6-44FE-AD16-952459F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718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Pool the whole layout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01C61-DC72-4B5C-8836-CE9232FD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19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A CLS token is combined with the mean over valid tokens to reduce dependence on one summary slot.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7F247-2407-4ACF-A555-87BCCD3E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7086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A52A9-AB6C-4082-9E95-1DD66EE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6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F17F5-C6DF-4160-B6F5-FDAA5331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52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58560-0FE1-47A3-9C6D-9E0C166D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291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Predict a joint outcome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37643-B114-471A-AB37-52714981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67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A 40-state head models clear, win, and potted count together, then recovers three marginals.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65863-55FE-4FF8-AE2A-7321DAEF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Selected configuration: 2 encoder layers, 4 heads, d_model 80, FFN 160, dropout 0.1, CLS+mean pooling, auxiliary joint supervision.</a:t>
            </a:r>
          </a:p>
        </p:txBody>
      </p:sp>
    </p:spTree>
    <p:extLst>
      <p:ext uri="{BB962C8B-B14F-4D97-AF65-F5344CB8AC3E}">
        <p14:creationId xmlns:p14="http://schemas.microsoft.com/office/powerpoint/2010/main" val="1005360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37770-2697-4B63-9DD2-E9D95BD4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AE7C5-C5CE-44A8-B502-893DFCF1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C9F53-C9E2-4AEF-8065-135832E6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DE0DB-441D-4BF0-86D3-3B20F2E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952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FC4"/>
                </a:solidFill>
              </a:defRPr>
            </a:pPr>
            <a:r>
              <a:rPr sz="1350" b="1">
                <a:solidFill>
                  <a:srgbClr val="007FC4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081CD-67B1-4BBC-8092-2184F8FF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6F645-A33A-4077-9F9C-0DA4A88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BLFormer: tokens + pair geometry -&gt; joint 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4DB7E-B080-480E-91AB-4710EC15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Embedding, bias MLP, 2 encoder layers, CLS/mean pooling, and a 40-way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16B51-DB1A-4FCB-926C-0A614C38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725150" cy="39814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7C2B5-CFA5-4B10-8BCB-A8D61FE1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1143000" cy="20193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6A7B00"/>
          </a:solidFill>
          <a:ln xmlns:a="http://schemas.openxmlformats.org/drawingml/2006/main" w="11430">
            <a:solidFill>
              <a:srgbClr val="566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B1290-B271-4C1E-B458-A926362E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914400" cy="1790700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0B9150"/>
          </a:solidFill>
          <a:ln xmlns:a="http://schemas.openxmlformats.org/drawingml/2006/main" w="9525">
            <a:solidFill>
              <a:srgbClr val="0B91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E9114-2130-4AC0-8A59-DBEF58C8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685800" cy="16383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AA06D-94EF-4659-A65E-5EDCFAA5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BFFE9-F12D-4763-97F8-C8D11829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52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127B0-6A10-4845-BE21-4B39CE6F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185D0-A8E6-48E8-94CF-3397CB97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0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CD6D3-5E02-458B-8838-9ED98BE0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31620-46F4-4713-8C29-1AB1AF3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C4B0F-18C8-4765-9E89-70FA06F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A8EEB-CC6D-421A-B597-7FA7F03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76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BD01"/>
          </a:solidFill>
          <a:ln xmlns:a="http://schemas.openxmlformats.org/drawingml/2006/main" w="10478">
            <a:solidFill>
              <a:srgbClr val="8A65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15452-3C50-4513-A38D-E3ADD98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1460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9F30B-C2F4-4D29-9A31-4F1C152C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00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10478">
            <a:solidFill>
              <a:srgbClr val="0A4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70F55-5E04-4BC6-9C01-05FEBA1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76330-2629-44CC-9675-EF9C1920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52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B5B"/>
          </a:solidFill>
          <a:ln xmlns:a="http://schemas.openxmlformats.org/drawingml/2006/main" w="10478">
            <a:solidFill>
              <a:srgbClr val="B44A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51B15-EC9A-4ADB-80A5-6B484D8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90950"/>
            <a:ext cx="209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D5D86-96B3-4B65-A550-DAF862F6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7083"/>
                </a:solidFill>
              </a:defRPr>
            </a:pPr>
            <a:r>
              <a:rPr sz="975" b="0">
                <a:solidFill>
                  <a:srgbClr val="5B7083"/>
                </a:solidFill>
              </a:rPr>
              <a:t>post-break layout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A5114-9604-4128-9C93-22920301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956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DF047-D340-477B-93BC-34078ABB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Token construction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41483-8AB4-44E6-A510-D44253F2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781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175E6-664B-4A9B-B1A0-05473AE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FC4"/>
                </a:solidFill>
              </a:defRPr>
            </a:pPr>
            <a:r>
              <a:rPr sz="1050" b="1">
                <a:solidFill>
                  <a:srgbClr val="007FC4"/>
                </a:solidFill>
              </a:rPr>
              <a:t>type 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31F00-3BF6-42AF-A732-F5B4D620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781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EAFB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A1EEB9-8EBE-4A8F-A1B5-C8229A5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C29F"/>
                </a:solidFill>
              </a:defRPr>
            </a:pPr>
            <a:r>
              <a:rPr sz="1050" b="1">
                <a:solidFill>
                  <a:srgbClr val="20C29F"/>
                </a:solidFill>
              </a:rPr>
              <a:t>ball 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271A0-2BDC-4633-95E9-A23E26F6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781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DB"/>
          </a:solidFill>
          <a:ln xmlns:a="http://schemas.openxmlformats.org/drawingml/2006/main" w="9525">
            <a:solidFill>
              <a:srgbClr val="FFF7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77653-3202-4742-B388-78750E82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6500"/>
                </a:solidFill>
              </a:defRPr>
            </a:pPr>
            <a:r>
              <a:rPr sz="1050" b="1">
                <a:solidFill>
                  <a:srgbClr val="8A6500"/>
                </a:solidFill>
              </a:rPr>
              <a:t>x, 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F6B5C-D18F-4B28-AFDC-5F49D6CD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8BC"/>
                </a:solidFill>
              </a:defRPr>
            </a:pPr>
            <a:r>
              <a:rPr sz="1800" b="1">
                <a:solidFill>
                  <a:srgbClr val="AAB8BC"/>
                </a:solidFill>
              </a:rPr>
              <a:t>+   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8EBBBD-CD03-4C92-A548-54116E88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23050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A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376EC4-7EE4-4870-85A7-D12F90D8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B96F6-DDC5-49AE-B665-F008D4D7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843" y="27813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E56B56-8A35-45A7-807C-BD31D8E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36" y="27813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4364E8-1116-49C5-BF30-8F3C4200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27813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6AE4C7-AB20-40A5-9B65-DC82A453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27813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8C1AB2-243D-4FE6-B26E-B5515D33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14" y="27813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978D4B-1145-4550-BC25-1F1035F4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307" y="27813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863880-97E9-4E61-8252-E6BB481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289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B6734B-C700-4E35-AACF-BAEEF5CD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843" y="30289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7DFD14-F93E-49E3-8BD3-E79644A7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36" y="30289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1D84C6-7CE7-44F7-9098-311AF2D0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30289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29F275-B26A-4C54-A26B-6B9FA75A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30289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1D8FC3-9650-4CEF-B9EB-E8296C5E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14" y="30289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65F099-F757-47BC-9E9B-6C00AC54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307" y="30289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4EE8CA-EAED-405D-9BEB-E4B021CF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FAD213-46B7-42E7-9D57-8270F226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843" y="32766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7A11AD-C0F4-4515-8A25-C7AA968B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36" y="32766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8201C9-9753-4B90-8CF2-28B4446F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32766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20028D-FB02-48B9-B4D9-539D77C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32766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5C0F81-AB87-453F-8DEB-BCB0FF7A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14" y="32766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B38D34-63D5-42D7-8C56-2159EB1C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307" y="32766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18CD23-7C23-450A-B09F-CCFA830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242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80D869-7C71-4B4B-8889-C42B09E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843" y="35242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D517B7-8BF0-4BDF-8966-C302D183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36" y="35242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14CC3B-C29B-4792-A70D-B43D72D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35242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52771C-7EE1-41B6-8BF4-30D9A90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35242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5C15C0-DE6F-459F-87E0-BDB6EA90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14" y="35242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D1C0ED-0654-4D8E-BE83-3D4ACE26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307" y="35242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C7E5CC-C9B6-4930-85FA-2B574227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157BAD-8F86-4153-B46B-ED7EF1C4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843" y="37719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A73C96C-011B-4F09-B9A5-7C44838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36" y="37719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C02B88-20F1-48C2-BAA9-03CEE89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37719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AE1B1E-25A3-412C-8BC4-5C282424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37719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C74191-31CF-42DD-9EB5-31368F6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14" y="37719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F5D46B-10B1-4E60-9E35-7B3F20EA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307" y="377190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5E84A2-9A33-4A50-93D8-0051D94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CE8730-4596-4018-85BA-EB02B02D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843" y="40195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2A5EA2-82FA-4198-9F05-91B8D7EB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136" y="40195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010DF7-0C8C-431F-9D5F-B46E7CD7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40195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1FBB81-FFA4-4C33-B37A-78AB5F44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40195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95529C-7E2A-41D7-8A64-BB460511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14" y="40195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708A38-221A-4DC6-916D-574124B9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307" y="4019550"/>
            <a:ext cx="32929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F7"/>
          </a:solidFill>
          <a:ln xmlns:a="http://schemas.openxmlformats.org/drawingml/2006/main" w="5715">
            <a:solidFill>
              <a:srgbClr val="102A4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0ED05A-DEDA-495E-B745-3E43E9FF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CLS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1561C9-8C52-43D9-99D4-DC1FD8EA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051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ball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7BDD65-F6EA-428D-A656-347AD855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528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ball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264BA95-ABB1-48B0-8105-D180DAC5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004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&lt;pad&gt;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041D5C-76BD-4C16-9994-FCCBA2A8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4810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pkt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F61C1B-0827-48D4-A603-2A4F7AAC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02A43"/>
                </a:solidFill>
              </a:defRPr>
            </a:pPr>
            <a:r>
              <a:rPr sz="900" b="0">
                <a:solidFill>
                  <a:srgbClr val="102A43"/>
                </a:solidFill>
              </a:rPr>
              <a:t>pkt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0DC4A7-3FD9-49B5-987A-CC568B24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83"/>
                </a:solidFill>
              </a:defRPr>
            </a:pPr>
            <a:r>
              <a:rPr sz="900" b="0">
                <a:solidFill>
                  <a:srgbClr val="5B7083"/>
                </a:solidFill>
              </a:rPr>
              <a:t>d_model = 80, variable valid-token count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45FEDFB-8798-4628-BBD6-5F91CEE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2A58239-884E-4274-9E65-775DF6E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2495550" cy="274320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AF20302-DF1B-4DBC-810C-B8124DF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BLFormer encoder layer x2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23948B-4E3F-4698-975A-226E043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1504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FB3DB0-3BD8-48C8-BCB9-E40286AE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6697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LayerNorm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979CE3-2484-42D8-B749-3373E0D9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504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B0EE3F-BE8E-4065-B6DB-095BBBD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4797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Geo-MHSA   (4 heads)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F2852B-3274-46A5-AB09-B66664FB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1504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DAC76B-C6C7-417D-AB5E-24529911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+ residual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7A75119-B68B-4297-A968-2B2F6E4D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504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AED721-C39E-4A7F-B0EA-B29D1475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LayerNorm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739EF9E-A2B6-44A4-B960-E5615FE9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1504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BA207F-8D58-44BA-A5ED-1C932359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9097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FFN   80 -&gt; 160 -&gt; 80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749E00-FDF2-44B7-83C2-977D1AA0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1504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BD8D3A-303D-4FD6-91C5-8902BDAE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7197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+ residual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D33E030-4A8A-4A99-9C80-E5D3661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337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7FC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AA63C5-EA75-40DB-9509-BD1A39A3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7FC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454B254-8573-4048-90A3-EAEDC076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31051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B"/>
          </a:solidFill>
          <a:ln xmlns:a="http://schemas.openxmlformats.org/drawingml/2006/main" w="9525">
            <a:solidFill>
              <a:srgbClr val="C7AF5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754C64-5017-47FD-AA4B-BFA050F5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57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pair_features (10-D)</a:t>
            </a:r>
          </a:p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 bias MLP 10 -&gt; 32 -&gt; 4 heads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785A62-68BD-4B95-86A9-44AA456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19700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7083"/>
                </a:solidFill>
              </a:defRPr>
            </a:pPr>
            <a:r>
              <a:rPr sz="825" b="0">
                <a:solidFill>
                  <a:srgbClr val="5B7083"/>
                </a:solidFill>
              </a:rPr>
              <a:t>distance, dx, dy, angle, blocked path, edge type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4B9D342-D084-4498-840E-AA0FC7E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0" cy="-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6F45"/>
            </a:solidFill>
            <a:prstDash val="dash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483EC98-9A99-4647-BE8F-C55741C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-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6F45"/>
            </a:solidFill>
            <a:prstDash val="dash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37413C-8DC3-47B5-A260-5C08A62E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909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96039D9-39D8-42F5-B152-86787511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914400" cy="1047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8712B4B-4D46-4847-BF6B-3470095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Pooling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3834413-A52C-4F45-8055-15F9C024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4572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CD3E22B-2C9F-44CE-9FAF-B33CE07D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457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FC4"/>
                </a:solidFill>
              </a:defRPr>
            </a:pPr>
            <a:r>
              <a:rPr sz="900" b="1">
                <a:solidFill>
                  <a:srgbClr val="007FC4"/>
                </a:solidFill>
              </a:rPr>
              <a:t>CLS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B8775D6-9A71-4350-94C4-DB52E2C4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4572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676AAC9-FBBE-4C5B-A84F-E226DBD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52775"/>
            <a:ext cx="457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C29F"/>
                </a:solidFill>
              </a:defRPr>
            </a:pPr>
            <a:r>
              <a:rPr sz="900" b="1">
                <a:solidFill>
                  <a:srgbClr val="20C29F"/>
                </a:solidFill>
              </a:rPr>
              <a:t>mean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81645D6-994C-4E7F-96B9-2CB2F3CA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83"/>
                </a:solidFill>
              </a:defRPr>
            </a:pPr>
            <a:r>
              <a:rPr sz="900" b="0">
                <a:solidFill>
                  <a:srgbClr val="5B7083"/>
                </a:solidFill>
              </a:rPr>
              <a:t>concat -&gt;</a:t>
            </a:r>
          </a:p>
          <a:p xmlns:a="http://schemas.openxmlformats.org/drawingml/2006/main">
            <a:pPr algn="ctr">
              <a:defRPr sz="900" b="0">
                <a:solidFill>
                  <a:srgbClr val="5B7083"/>
                </a:solidFill>
              </a:defRPr>
            </a:pPr>
            <a:r>
              <a:rPr sz="900" b="0">
                <a:solidFill>
                  <a:srgbClr val="5B7083"/>
                </a:solidFill>
              </a:rPr>
              <a:t>160-D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D15326D-E19A-4115-9169-DB14DC72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909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22537DA-EFC9-40C2-9479-324C88F4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19300"/>
            <a:ext cx="1047750" cy="20002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5586DB-1ADB-4603-B5C6-450B7BFB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5265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joint head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296F88B-7A7C-47CF-9302-C7B7D67A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5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54E733-BCF9-44FD-AD95-05AE4CF4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5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8729D05-5118-43FB-94BA-A19B636A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45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C61D63F-D782-4502-8742-D844E047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5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63DA46B-1402-4130-AB9A-60FCBD43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5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8FFA5B7-020D-4471-A1BE-27C2ADE0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90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8AEF621-06AA-4A36-BCB1-28EC4A9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90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32034F5-935A-46D3-B069-9A5E93B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90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B664D1B-9647-4E21-B785-687E0CF6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90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CF4A28-FC5A-4299-A7D6-81DC24D8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908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3268444-D495-4669-A02E-4B325107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24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6E357D7-6D13-411C-90B0-185761E2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24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53E6DD4-5FF3-4D1C-A85E-B1CDA635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24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9B66A4F-D013-4717-AB8B-01FB6121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724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A8C326A-B02A-4B32-A4DA-DE1D38F1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24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727BA2F-014A-4556-9698-3441E241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575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6C8E85A-4608-485C-827C-D857EBB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575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0E5F57-37F3-4F56-A89F-93EAA9C4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681EE73-3658-4F22-A021-BEA1A31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B7A6C74-036F-4801-B8EC-C7DAAED8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8591B87-578B-48C6-BF2F-ACF5FA08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9C0E26A-EA36-42F7-8824-05E0632F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90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16B846B-0F54-4F63-BA06-EDB2E26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990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76B4455-94E3-446C-A2C0-B5CE70D9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90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28BDD44-69EE-452E-BE84-A644F945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90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76BB44A-5804-460D-A912-F99C2E6B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24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F41ABEC-F454-4CF4-B7A1-14AAB507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24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709F56E-7708-4C66-8B9C-FE4B19A2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24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087117A-3046-4192-A9F0-5EA58E0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24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F56A0F-BAC8-48C8-AD02-FEAC087E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36E401B-FA81-4091-9BDA-FEA7316A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57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7AE8760-D9B9-420F-8653-16008DBD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57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62F7FE5-3D18-495C-A62A-EB361E0D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257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390F512-2AA5-4500-9BD2-B84EAC79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257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6396043-AEF8-44F0-9A1F-60863175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57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F0D3512-46E6-4F63-AD6E-AFBFA12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909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97FB984-A2E2-46BF-89AF-AE0D71B7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3909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B3547A6-5AB7-44AD-A5E7-60E11BA9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909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C8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96352CE-1198-4B61-836F-A34E82E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909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6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1E0AF4D-51D8-4659-98A3-4228AF3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909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3810">
            <a:solidFill>
              <a:srgbClr val="D6E1E8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9A3B2EB-4327-4FCB-BF2E-CC869B4F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81400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7083"/>
                </a:solidFill>
              </a:defRPr>
            </a:pPr>
            <a:r>
              <a:rPr sz="900" b="0">
                <a:solidFill>
                  <a:srgbClr val="5B7083"/>
                </a:solidFill>
              </a:rPr>
              <a:t>40 logits = 2 x 2 x 10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50072B3-F879-41BB-B38C-E3C81FE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71950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marginals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66D810F-1A4A-4C05-9ED2-1B22ED7E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196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AF6F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3FEF76D-8228-4264-B728-8AE81E0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FC4"/>
                </a:solidFill>
              </a:defRPr>
            </a:pPr>
            <a:r>
              <a:rPr sz="1050" b="1">
                <a:solidFill>
                  <a:srgbClr val="007FC4"/>
                </a:solidFill>
              </a:rPr>
              <a:t>clear / win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0D1918A-44FE-48F7-89BE-553C8932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81550"/>
            <a:ext cx="685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9525">
            <a:solidFill>
              <a:srgbClr val="FDF0E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8880703-EE66-4669-83FA-858B421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387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C6F45"/>
                </a:solidFill>
              </a:defRPr>
            </a:pPr>
            <a:r>
              <a:rPr sz="1050" b="1">
                <a:solidFill>
                  <a:srgbClr val="EC6F45"/>
                </a:solidFill>
              </a:rPr>
              <a:t>potted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1B18F74-53F5-4018-BE8E-0A0FA6F4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Selected model: d_model 80, 4 heads, 2 encoder layers, FFN 160, CLS+mean pooling, joint 40-state supervision, 121,426 parameters.</a:t>
            </a:r>
          </a:p>
        </p:txBody>
      </p:sp>
    </p:spTree>
    <p:extLst>
      <p:ext uri="{BB962C8B-B14F-4D97-AF65-F5344CB8AC3E}">
        <p14:creationId xmlns:p14="http://schemas.microsoft.com/office/powerpoint/2010/main" val="702520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99A72-ECA8-49CC-8762-B35C928D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90241-46AB-4030-9230-D30EF585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FB117-B78A-42F3-BE32-28F148D4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19D3F-5CBC-4CA6-8C40-70FF082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952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FC4"/>
                </a:solidFill>
              </a:defRPr>
            </a:pPr>
            <a:r>
              <a:rPr sz="1350" b="1">
                <a:solidFill>
                  <a:srgbClr val="007FC4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D59E0-ACE6-4AF0-99E4-0FDEE7B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68536-3F6C-41F0-93A3-4D4A7041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BLFormer wins on held-out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35669-4EB5-4012-9594-9BECF68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The report dashboard adds data-balance and validation-curve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F46F7-74B2-4875-BB5A-B6EAD2B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7BB5F-C074-47F0-8375-A959829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430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Held-out test accuracy by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D2E11-B148-435D-A4B3-86311B4F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68391-62EB-4F50-A798-08FC1875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764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A57CC-3760-4454-9359-384942C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71700"/>
            <a:ext cx="666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7E914-E2D1-458D-BD8E-DAA31B96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764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Clear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9BC96-2AE1-4DB6-8BAE-CB79F5C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666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8DBEE-A31D-4607-AF4E-9273C17F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764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6FB5D-5683-46F9-97C3-76EDB39F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7170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19B96-FEB8-41DF-9987-0B2107E0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7647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Potted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10258-E620-4D7D-A84A-DA7821C1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6477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9EC00-EC77-40B4-90E2-44AC1E10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764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A5152-D4EC-4B50-B5CE-D2ADB56D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3053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CDBF2-C9B7-4624-B05A-524D252F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908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BLCNN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3E764-CEDC-4912-AD64-8B01E60C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908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71.48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A54FB-380A-41A3-B2BC-E0D4ED3D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908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66.75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A3C10-CA7F-42BB-9D44-A03BF383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908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61.25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FF168A-D563-4E3A-892E-1B3C9917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66.49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0980D-B8EA-48AE-AA24-B732EA7D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43053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3ED71-08B5-45C0-8A37-FF22D06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861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MLP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9CEB0-F062-4C95-8399-5E64354A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86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69.33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7E338-BD87-484F-B16E-670EB17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86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67.18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FCD433-73F1-413B-9C3D-230D6B5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861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55.24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B11066-58EC-4BA5-A621-7A091706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63.92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08003-C446-4204-BEDF-A507EC9A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43053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8B3BD-6131-48CE-A370-F8FEC85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814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Transformer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729A08-801E-4BE4-AB92-FC4EB1C1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14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65.81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D284E-AE7B-4EDF-BA99-BF8338E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814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66.41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BCDCA4-216B-4F03-9D97-103FEAD1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814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40.12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1137D-8FCD-4FC3-A249-D6165B79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814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57.45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F242DB-C70F-4C48-A3F4-D6009C70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43053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6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FC4484-972A-4907-A3DB-2DCED8D8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767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C29F"/>
                </a:solidFill>
              </a:defRPr>
            </a:pPr>
            <a:r>
              <a:rPr sz="1200" b="1">
                <a:solidFill>
                  <a:srgbClr val="20C29F"/>
                </a:solidFill>
              </a:rPr>
              <a:t>BLFormer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D2EE3D-80CB-4088-B10A-93853824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76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71.82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9911A4-A55F-4031-AE51-2BD927DF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76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69.67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BE33EA-D8EC-44DA-9F68-E9B5B76D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767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67.10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404DC4-52CB-4B3D-92A2-259C73E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767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C29F"/>
                </a:solidFill>
              </a:defRPr>
            </a:pPr>
            <a:r>
              <a:rPr sz="1200" b="1">
                <a:solidFill>
                  <a:srgbClr val="20C29F"/>
                </a:solidFill>
              </a:rPr>
              <a:t>69.53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E1B3DF-7781-4905-8B5A-AE5C3B9C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7083"/>
                </a:solidFill>
              </a:defRPr>
            </a:pPr>
            <a:r>
              <a:rPr sz="1200" b="0">
                <a:solidFill>
                  <a:srgbClr val="5B7083"/>
                </a:solidFill>
              </a:rPr>
              <a:t>Largest improvement: potted-count accuracy rises by 5.85 points over BLCNN.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64B08A-CE82-45D0-9A22-C49DF4CF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38300"/>
            <a:ext cx="5638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EE31BC-3CB9-4B98-890C-16602BD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B132A0-BB2F-44CD-A1AD-518F71A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Parameter footprint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E58D2E-D8D4-45E0-A4DB-002DE758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717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83"/>
                </a:solidFill>
              </a:defRPr>
            </a:pPr>
            <a:r>
              <a:rPr sz="1125" b="0">
                <a:solidFill>
                  <a:srgbClr val="5B7083"/>
                </a:solidFill>
              </a:rPr>
              <a:t>BLFormer 121k joint</a:t>
            </a:r>
          </a:p>
          <a:p xmlns:a="http://schemas.openxmlformats.org/drawingml/2006/main">
            <a:pPr algn="l">
              <a:defRPr sz="1125" b="0">
                <a:solidFill>
                  <a:srgbClr val="5B7083"/>
                </a:solidFill>
              </a:defRPr>
            </a:pPr>
            <a:r>
              <a:rPr sz="1125" b="0">
                <a:solidFill>
                  <a:srgbClr val="5B7083"/>
                </a:solidFill>
              </a:rPr>
              <a:t>Others total: BLCNN 143k | MLP 155k | Transformer 160k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B4C258-A4B5-4748-9A8A-C2289643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7251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d1c8d687445c9"/>
          <a:stretch xmlns:a="http://schemas.openxmlformats.org/drawingml/2006/main"/>
        </p:blipFill>
        <p:spPr>
          <a:xfrm xmlns:a="http://schemas.openxmlformats.org/drawingml/2006/main">
            <a:off x="7633403" y="2838450"/>
            <a:ext cx="2163944" cy="17716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943366-6A74-451D-AEBB-899D629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3"/>
                </a:solidFill>
              </a:defRPr>
            </a:pPr>
            <a:r>
              <a:rPr sz="1125" b="0">
                <a:solidFill>
                  <a:srgbClr val="5B7083"/>
                </a:solidFill>
              </a:rPr>
              <a:t>The report dashboard shows the skewed labels and the steadier joint-model validation climb.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046961-D8FF-42A0-8B49-5F547F53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Training details from the report: AdamW, lr 3e-4, weight decay 0.01, batch size 64, cosine annealing, dropout 0.1, gradient clipping 1.0, early stopping patience 60, up to 400 epochs.</a:t>
            </a:r>
          </a:p>
        </p:txBody>
      </p:sp>
    </p:spTree>
    <p:extLst>
      <p:ext uri="{BB962C8B-B14F-4D97-AF65-F5344CB8AC3E}">
        <p14:creationId xmlns:p14="http://schemas.microsoft.com/office/powerpoint/2010/main" val="703104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5D838D-DC1F-49A3-B3A3-970623DE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4706A-8534-4946-B013-109DC131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88ACB-BA5D-4392-A765-4737AE39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21B6F-8A3F-4B57-AE60-8CCFA639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952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FC4"/>
                </a:solidFill>
              </a:defRPr>
            </a:pPr>
            <a:r>
              <a:rPr sz="1350" b="1">
                <a:solidFill>
                  <a:srgbClr val="007FC4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7F365-6854-4C32-8DA8-6D07B46F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71DB-6F7D-4402-910C-70F820B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Rare potted counts remain the main failure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17E61-4B57-410F-B723-FD8F132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083"/>
                </a:solidFill>
              </a:defRPr>
            </a:pPr>
            <a:r>
              <a:rPr sz="1350" b="0">
                <a:solidFill>
                  <a:srgbClr val="5B7083"/>
                </a:solidFill>
              </a:rPr>
              <a:t>The final report confusion matrices show that the model is accurate on dominant classes but still weak on the long 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2868A-0714-4AA9-9F7F-09657378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8102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A586D-CFD5-41B1-A583-9D76C7C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Confusion matrices from the final report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99b176ce84b55"/>
          <a:stretch xmlns:a="http://schemas.openxmlformats.org/drawingml/2006/main"/>
        </p:blipFill>
        <p:spPr>
          <a:xfrm xmlns:a="http://schemas.openxmlformats.org/drawingml/2006/main">
            <a:off x="1047750" y="2345061"/>
            <a:ext cx="5276850" cy="216787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AEF27-81FC-446F-96ED-23DF1D28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7083"/>
                </a:solidFill>
              </a:defRPr>
            </a:pPr>
            <a:r>
              <a:rPr sz="1125" b="0">
                <a:solidFill>
                  <a:srgbClr val="5B7083"/>
                </a:solidFill>
              </a:rPr>
              <a:t>Clear and win are usable; potted-count errors concentrate around the dominant classes 0, 7, and 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8C19C-EB4E-478F-8E12-BDE5F8A9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76400"/>
            <a:ext cx="46101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30D19-674E-49EE-BCB0-16A7ACB3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6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D6BDD-C158-4656-8FFB-D1EBE29F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Observed failure modes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2E5E0-377A-464E-A53D-47FAA479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422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Potted macro-F1 is only 0.338 even though exact accuracy reaches 67.10%.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The model never predicts class 9 on the held-out test split.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Win is noisy because many positive layouts still diverge later in the rack.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FE437-7DDD-446F-A130-D7C8169E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24200"/>
            <a:ext cx="46101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05256-8C82-47A8-BA81-82BE8C9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57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2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6C16B-1C4D-4B2E-ADD2-50425E2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Evaluation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906AD-C848-4627-B98E-282AFA6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422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Internal model selection uses only 660 train and 116 validation samples.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The report is based on one fixed split rather than multi-seed confidence intervals.</a:t>
            </a:r>
          </a:p>
          <a:p xmlns:a="http://schemas.openxmlformats.org/drawingml/2006/main">
            <a:pPr algn="l">
              <a:defRPr sz="1275" b="0">
                <a:solidFill>
                  <a:srgbClr val="5B7083"/>
                </a:solidFill>
              </a:defRPr>
            </a:pPr>
            <a:r>
              <a:rPr sz="1275" b="0">
                <a:solidFill>
                  <a:srgbClr val="5B7083"/>
                </a:solidFill>
              </a:rPr>
              <a:t>- Class 9 appears only four times in the full cleaned dataset.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A8DF4-92C4-4A48-8938-B302D008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725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D6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1635C-9F83-4FC5-8D8D-2BB141AB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What should come 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0C433-22AC-458A-970D-D1919343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245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Add multi-seed confidence intervals, calibrate rare potted classes, and test stronger imbalance-aware objectives.</a:t>
            </a:r>
          </a:p>
        </p:txBody>
      </p:sp>
    </p:spTree>
    <p:extLst>
      <p:ext uri="{BB962C8B-B14F-4D97-AF65-F5344CB8AC3E}">
        <p14:creationId xmlns:p14="http://schemas.microsoft.com/office/powerpoint/2010/main" val="592568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2026-07-07T05:37:50.5100000Z</dcterms:created>
  <dcterms:modified xsi:type="dcterms:W3CDTF">2026-07-07T05:37:50.5100000Z</dcterms:modified>
</coreProperties>
</file>